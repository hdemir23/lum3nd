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Açılış: SP3ND, Stellar USDC ile Türkiye'deki gerçek e-ticaret sitelerinden alışveriş. Kart uygulamaya girmez. Tek cüzdan imzası, tek USDC ödemesi, operatör mağazadan satın alır. Jüriye 14 slayt; demo DEMO.md senaryosu.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Problem: Türkiye'de USDC ile Amazon/Trendyol/HB alışverişi yok. Off-ramp + kart zorunlu. SP3ND bu boşluğu kapatır: zincirde ödeme, kapıda ürün.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Hedef: Türkiye'de USDC tutanlar, yurtdışından mal gönderen diaspora, kart vermek istemeyen kripto kullanıcıları. Operatör = merchant of record.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Değer: tek sepet, tek USDC, kart yok, 15 dk teklif. Kapsam dışı: otomatik mağaza satın alma, escrow, kısmi iade. Dürüst MVP.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Demo sırası: giriş (reddet=oturum yok) → 3 mağaza sepet → adres → admin teklif → Freighter ödeme → satın alma durumları → tam iade. İkinci cüzdan izolasyonu göster.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UX: kripto bilmeyen biri de link yapıştırıp teklif görür. Mobil ve masaüstü aynı akış. Extension ürün sayfasından URL taşır, sepete kendi başına eklemez.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Formül: (ürün TRY + kargo TRY) / kur + adet başına 1 USDC. İstemci hizmet bedelini değiştiremez. Ödendi ancak Horizon eşleşmesiyle. Aynı hash izlenir, ikinci ödeme yok.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Mimari (Mermaid):
flowchart LR
  U[Chrome + Freighter] --&gt; A[Next.js]
  E[Extension] --&gt; A
  A --&gt; DB[(SQLite)]
  A --&gt; H[Horizon]
  A --&gt; FX[TCMB + catalog]
  H --&gt; USDC[Circle USDC]
  OP[Admin] --&gt; M[Amazon TR / Trendyol / HB]
Soroban yok: klasik payment. Escrow yol haritasında.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Stellar çekirdekte: Freighter, SEP-53, Circle USDC, Horizon doğrulama. Anchor henüz yok — bunu bir sonraki slaytta açık söyle. Sahte SEP-6 göstermiyoruz.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Dürüstlük: Soroban/Anchor yok. Testnet script gerçek Horizon kullanır. Otomatik testler gerçek mağaza siparişi veya mainnet ödeme sayılmaz — DEMO.md'de yazıyor.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Devam: SCF. 90 gün: TR Mock Anchor (SEP-6/10/38) + Soroban escrow. Bugün çalışan şey: klasik USDC ödeme + operatör masası. Mainnet alıcı cüzdanı .env MAINNET_RECEIVER.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Canlı demo bu sırayla. Cüzdan yoksa ödeme/satın alma kabulü bekler — slayt 13. İkinci cüzdanla izolasyonu unutma.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Jüri kurulumu README'de. APP_ORIGIN tam olarak http://localhost:3000 olmalı. MAINNET_RECEIVER boşsa teklif/ödeme yapılandırma hatası verir. Otomatik test ≠ gerçek ödeme.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Kapanış: Stellar doları taşıyor, SP3ND onu kapıya götürüyor. Sorular. Demo’ya geç.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E0E0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rose/Desktop/Stellar-Hack_Ist/pitch/assets/logo-ic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384048"/>
            <a:ext cx="384048" cy="365760"/>
          </a:xfrm>
          <a:prstGeom prst="rect">
            <a:avLst/>
          </a:prstGeom>
        </p:spPr>
      </p:pic>
      <p:pic>
        <p:nvPicPr>
          <p:cNvPr id="3" name="Image 1" descr="/Users/rose/Desktop/Stellar-Hack_Ist/pitch/assets/logo-wordmar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0120" y="420624"/>
            <a:ext cx="1965960" cy="306324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3200400" y="457200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spc="140" kern="0" dirty="0">
                <a:solidFill>
                  <a:srgbClr val="7373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RISE IN  ×  STELLAR PRO HACKATHON  ·  19–20 SEP 2026</a:t>
            </a:r>
            <a:endParaRPr lang="en-US" sz="1200" dirty="0"/>
          </a:p>
        </p:txBody>
      </p:sp>
      <p:sp>
        <p:nvSpPr>
          <p:cNvPr id="5" name="Text 1"/>
          <p:cNvSpPr/>
          <p:nvPr/>
        </p:nvSpPr>
        <p:spPr>
          <a:xfrm>
            <a:off x="502920" y="1554480"/>
            <a:ext cx="6583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5F5F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Spend freely.</a:t>
            </a:r>
            <a:endParaRPr lang="en-US" sz="4800" dirty="0"/>
          </a:p>
        </p:txBody>
      </p:sp>
      <p:sp>
        <p:nvSpPr>
          <p:cNvPr id="6" name="Text 2"/>
          <p:cNvSpPr/>
          <p:nvPr/>
        </p:nvSpPr>
        <p:spPr>
          <a:xfrm>
            <a:off x="502920" y="2286000"/>
            <a:ext cx="6583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17C7B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Settle simply.</a:t>
            </a:r>
            <a:endParaRPr lang="en-US" sz="4800" dirty="0"/>
          </a:p>
        </p:txBody>
      </p:sp>
      <p:sp>
        <p:nvSpPr>
          <p:cNvPr id="7" name="Text 3"/>
          <p:cNvSpPr/>
          <p:nvPr/>
        </p:nvSpPr>
        <p:spPr>
          <a:xfrm>
            <a:off x="502920" y="3200400"/>
            <a:ext cx="6217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A3A3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USDC payment on Stellar. Real goods from Amazon Türkiye,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A3A3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Trendyol, and Hepsiburada — delivered to a Turkish address.</a:t>
            </a:r>
            <a:endParaRPr lang="en-US" sz="1600" dirty="0"/>
          </a:p>
        </p:txBody>
      </p:sp>
      <p:sp>
        <p:nvSpPr>
          <p:cNvPr id="8" name="Shape 4"/>
          <p:cNvSpPr/>
          <p:nvPr/>
        </p:nvSpPr>
        <p:spPr>
          <a:xfrm>
            <a:off x="502920" y="4023360"/>
            <a:ext cx="1965960" cy="329184"/>
          </a:xfrm>
          <a:prstGeom prst="roundRect">
            <a:avLst>
              <a:gd name="adj" fmla="val 22222"/>
            </a:avLst>
          </a:prstGeom>
          <a:solidFill>
            <a:srgbClr val="1A1A1A"/>
          </a:solidFill>
          <a:ln/>
        </p:spPr>
      </p:sp>
      <p:sp>
        <p:nvSpPr>
          <p:cNvPr id="9" name="Text 5"/>
          <p:cNvSpPr/>
          <p:nvPr/>
        </p:nvSpPr>
        <p:spPr>
          <a:xfrm>
            <a:off x="502920" y="4023360"/>
            <a:ext cx="1965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80" kern="0" dirty="0">
                <a:solidFill>
                  <a:srgbClr val="17C7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LOCAL COMMERCE</a:t>
            </a:r>
            <a:endParaRPr lang="en-US" sz="1000" dirty="0"/>
          </a:p>
        </p:txBody>
      </p:sp>
      <p:sp>
        <p:nvSpPr>
          <p:cNvPr id="10" name="Shape 6"/>
          <p:cNvSpPr/>
          <p:nvPr/>
        </p:nvSpPr>
        <p:spPr>
          <a:xfrm>
            <a:off x="2606040" y="4023360"/>
            <a:ext cx="1965960" cy="329184"/>
          </a:xfrm>
          <a:prstGeom prst="roundRect">
            <a:avLst>
              <a:gd name="adj" fmla="val 22222"/>
            </a:avLst>
          </a:prstGeom>
          <a:solidFill>
            <a:srgbClr val="1A1A1A"/>
          </a:solidFill>
          <a:ln/>
        </p:spPr>
      </p:sp>
      <p:sp>
        <p:nvSpPr>
          <p:cNvPr id="11" name="Text 7"/>
          <p:cNvSpPr/>
          <p:nvPr/>
        </p:nvSpPr>
        <p:spPr>
          <a:xfrm>
            <a:off x="2606040" y="4023360"/>
            <a:ext cx="1965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80" kern="0" dirty="0">
                <a:solidFill>
                  <a:srgbClr val="17C7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STELLAR USDC</a:t>
            </a:r>
            <a:endParaRPr lang="en-US" sz="1000" dirty="0"/>
          </a:p>
        </p:txBody>
      </p:sp>
      <p:sp>
        <p:nvSpPr>
          <p:cNvPr id="12" name="Shape 8"/>
          <p:cNvSpPr/>
          <p:nvPr/>
        </p:nvSpPr>
        <p:spPr>
          <a:xfrm>
            <a:off x="4480560" y="4023360"/>
            <a:ext cx="1965960" cy="329184"/>
          </a:xfrm>
          <a:prstGeom prst="roundRect">
            <a:avLst>
              <a:gd name="adj" fmla="val 22222"/>
            </a:avLst>
          </a:prstGeom>
          <a:solidFill>
            <a:srgbClr val="1A1A1A"/>
          </a:solidFill>
          <a:ln/>
        </p:spPr>
      </p:sp>
      <p:sp>
        <p:nvSpPr>
          <p:cNvPr id="13" name="Text 9"/>
          <p:cNvSpPr/>
          <p:nvPr/>
        </p:nvSpPr>
        <p:spPr>
          <a:xfrm>
            <a:off x="4480560" y="4023360"/>
            <a:ext cx="1965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80" kern="0" dirty="0">
                <a:solidFill>
                  <a:srgbClr val="17C7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FREIGHTER + SEP-53</a:t>
            </a:r>
            <a:endParaRPr lang="en-US" sz="1000" dirty="0"/>
          </a:p>
        </p:txBody>
      </p:sp>
      <p:sp>
        <p:nvSpPr>
          <p:cNvPr id="14" name="Text 10"/>
          <p:cNvSpPr/>
          <p:nvPr/>
        </p:nvSpPr>
        <p:spPr>
          <a:xfrm>
            <a:off x="502920" y="5989320"/>
            <a:ext cx="6766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373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Working app in-repo  ·  github.com/HDemir23/SP3ND  ·  sp3nd.shop</a:t>
            </a:r>
            <a:endParaRPr lang="en-US" sz="1300" dirty="0"/>
          </a:p>
        </p:txBody>
      </p:sp>
      <p:sp>
        <p:nvSpPr>
          <p:cNvPr id="15" name="Shape 11"/>
          <p:cNvSpPr/>
          <p:nvPr/>
        </p:nvSpPr>
        <p:spPr>
          <a:xfrm>
            <a:off x="6903720" y="1234440"/>
            <a:ext cx="4754880" cy="2674620"/>
          </a:xfrm>
          <a:prstGeom prst="roundRect">
            <a:avLst>
              <a:gd name="adj" fmla="val 2735"/>
            </a:avLst>
          </a:prstGeom>
          <a:solidFill>
            <a:srgbClr val="202020"/>
          </a:solidFill>
          <a:ln/>
          <a:effectLst>
            <a:outerShdw sx="100000" sy="100000" kx="0" ky="0" algn="bl" rotWithShape="0" blurRad="152400" dist="38100" dir="8100000">
              <a:srgbClr val="000000">
                <a:alpha val="40000"/>
              </a:srgbClr>
            </a:outerShdw>
          </a:effectLst>
        </p:spPr>
      </p:sp>
      <p:pic>
        <p:nvPicPr>
          <p:cNvPr id="16" name="Image 2" descr="/Users/rose/Desktop/Stellar-Hack_Ist/pitch/assets/home-hero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67728" y="1298448"/>
            <a:ext cx="4626864" cy="2602611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E0E0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11155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40" kern="0" dirty="0">
                <a:solidFill>
                  <a:srgbClr val="17C7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 ·  MEANINGFUL IDEA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493776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5F5F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USDC sits in wallets. Shopping still needs a card.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0" y="6601968"/>
            <a:ext cx="12161520" cy="256032"/>
          </a:xfrm>
          <a:prstGeom prst="rect">
            <a:avLst/>
          </a:prstGeom>
          <a:solidFill>
            <a:srgbClr val="0E0E0E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6601968"/>
            <a:ext cx="7772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20" kern="0" dirty="0">
                <a:solidFill>
                  <a:srgbClr val="7373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SP3ND  ·  STELLAR PRO HACKATHON 2026  ·  ISTANBUL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0332720" y="6601968"/>
            <a:ext cx="1325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373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 /  14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502920" y="1371600"/>
            <a:ext cx="3611880" cy="2606040"/>
          </a:xfrm>
          <a:prstGeom prst="roundRect">
            <a:avLst>
              <a:gd name="adj" fmla="val 2807"/>
            </a:avLst>
          </a:prstGeom>
          <a:solidFill>
            <a:srgbClr val="1A1A1A"/>
          </a:solidFill>
          <a:ln/>
          <a:effectLst>
            <a:outerShdw sx="100000" sy="100000" kx="0" ky="0" algn="bl" rotWithShape="0" blurRad="152400" dist="38100" dir="8100000">
              <a:srgbClr val="000000">
                <a:alpha val="4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502920" y="1371600"/>
            <a:ext cx="3611880" cy="64008"/>
          </a:xfrm>
          <a:prstGeom prst="rect">
            <a:avLst/>
          </a:prstGeom>
          <a:solidFill>
            <a:srgbClr val="17C7BA"/>
          </a:solidFill>
          <a:ln/>
        </p:spPr>
      </p:sp>
      <p:sp>
        <p:nvSpPr>
          <p:cNvPr id="9" name="Text 7"/>
          <p:cNvSpPr/>
          <p:nvPr/>
        </p:nvSpPr>
        <p:spPr>
          <a:xfrm>
            <a:off x="704088" y="160020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40" kern="0" dirty="0">
                <a:solidFill>
                  <a:srgbClr val="17C7B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LOCK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704088" y="2011680"/>
            <a:ext cx="32004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4D4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Amazon Türkiye, Trendyol, and Hepsiburada do not take Stellar USDC. A holder who wants a real product still has to off-ramp, wire TRY, and check out as a card customer.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4297680" y="1371600"/>
            <a:ext cx="3611880" cy="2606040"/>
          </a:xfrm>
          <a:prstGeom prst="roundRect">
            <a:avLst>
              <a:gd name="adj" fmla="val 2807"/>
            </a:avLst>
          </a:prstGeom>
          <a:solidFill>
            <a:srgbClr val="1A1A1A"/>
          </a:solidFill>
          <a:ln/>
          <a:effectLst>
            <a:outerShdw sx="100000" sy="100000" kx="0" ky="0" algn="bl" rotWithShape="0" blurRad="152400" dist="38100" dir="8100000">
              <a:srgbClr val="000000">
                <a:alpha val="4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297680" y="1371600"/>
            <a:ext cx="3611880" cy="64008"/>
          </a:xfrm>
          <a:prstGeom prst="rect">
            <a:avLst/>
          </a:prstGeom>
          <a:solidFill>
            <a:srgbClr val="17C7BA"/>
          </a:solidFill>
          <a:ln/>
        </p:spPr>
      </p:sp>
      <p:sp>
        <p:nvSpPr>
          <p:cNvPr id="13" name="Text 11"/>
          <p:cNvSpPr/>
          <p:nvPr/>
        </p:nvSpPr>
        <p:spPr>
          <a:xfrm>
            <a:off x="4498848" y="160020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40" kern="0" dirty="0">
                <a:solidFill>
                  <a:srgbClr val="17C7B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COST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498848" y="2011680"/>
            <a:ext cx="32004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4D4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hop adds FX spread, banking hours, and KYC. Remittances become cash, not the actual goods a family asked for. Crypto-native users bounce before they spend.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8092440" y="1371600"/>
            <a:ext cx="3611880" cy="2606040"/>
          </a:xfrm>
          <a:prstGeom prst="roundRect">
            <a:avLst>
              <a:gd name="adj" fmla="val 2807"/>
            </a:avLst>
          </a:prstGeom>
          <a:solidFill>
            <a:srgbClr val="1A1A1A"/>
          </a:solidFill>
          <a:ln/>
          <a:effectLst>
            <a:outerShdw sx="100000" sy="100000" kx="0" ky="0" algn="bl" rotWithShape="0" blurRad="152400" dist="38100" dir="8100000">
              <a:srgbClr val="000000">
                <a:alpha val="4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8092440" y="1371600"/>
            <a:ext cx="3611880" cy="64008"/>
          </a:xfrm>
          <a:prstGeom prst="rect">
            <a:avLst/>
          </a:prstGeom>
          <a:solidFill>
            <a:srgbClr val="17C7BA"/>
          </a:solidFill>
          <a:ln/>
        </p:spPr>
      </p:sp>
      <p:sp>
        <p:nvSpPr>
          <p:cNvPr id="17" name="Text 15"/>
          <p:cNvSpPr/>
          <p:nvPr/>
        </p:nvSpPr>
        <p:spPr>
          <a:xfrm>
            <a:off x="8293608" y="160020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40" kern="0" dirty="0">
                <a:solidFill>
                  <a:srgbClr val="17C7B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GAP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293608" y="2011680"/>
            <a:ext cx="32004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4D4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Stellar already moves dollars in seconds. Turkey already has dense e-commerce. Nobody connects the two without asking the shopper for a card or a private key.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502920" y="4206240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A3A3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case: local payments + commerce. Not a demo swap. A rail that turns Stellar dollars into a parcel at a Turkish door.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E0E0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11155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40" kern="0" dirty="0">
                <a:solidFill>
                  <a:srgbClr val="17C7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 ·  WHO BENEFITS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493776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5F5F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 clear buyer — and a desk that can serve them this week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0" y="6601968"/>
            <a:ext cx="12161520" cy="256032"/>
          </a:xfrm>
          <a:prstGeom prst="rect">
            <a:avLst/>
          </a:prstGeom>
          <a:solidFill>
            <a:srgbClr val="0E0E0E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6601968"/>
            <a:ext cx="7772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20" kern="0" dirty="0">
                <a:solidFill>
                  <a:srgbClr val="7373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SP3ND  ·  STELLAR PRO HACKATHON 2026  ·  ISTANBUL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0332720" y="6601968"/>
            <a:ext cx="1325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373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 /  14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502920" y="1325880"/>
            <a:ext cx="5577840" cy="2148840"/>
          </a:xfrm>
          <a:prstGeom prst="roundRect">
            <a:avLst>
              <a:gd name="adj" fmla="val 3404"/>
            </a:avLst>
          </a:prstGeom>
          <a:solidFill>
            <a:srgbClr val="1A1A1A"/>
          </a:solidFill>
          <a:ln/>
          <a:effectLst>
            <a:outerShdw sx="100000" sy="100000" kx="0" ky="0" algn="bl" rotWithShape="0" blurRad="152400" dist="38100" dir="8100000">
              <a:srgbClr val="000000">
                <a:alpha val="4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502920" y="1325880"/>
            <a:ext cx="5577840" cy="64008"/>
          </a:xfrm>
          <a:prstGeom prst="rect">
            <a:avLst/>
          </a:prstGeom>
          <a:solidFill>
            <a:srgbClr val="17C7BA"/>
          </a:solidFill>
          <a:ln/>
        </p:spPr>
      </p:sp>
      <p:sp>
        <p:nvSpPr>
          <p:cNvPr id="9" name="Text 7"/>
          <p:cNvSpPr/>
          <p:nvPr/>
        </p:nvSpPr>
        <p:spPr>
          <a:xfrm>
            <a:off x="758952" y="1581912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7C7B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01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691640" y="160020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5F5F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USDC holders in Turkey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758952" y="2148840"/>
            <a:ext cx="50292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3A3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People who already keep dollars on Stellar and want a keyboard, a phone case, or a gift without opening a bank transfer.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309360" y="1325880"/>
            <a:ext cx="5577840" cy="2148840"/>
          </a:xfrm>
          <a:prstGeom prst="roundRect">
            <a:avLst>
              <a:gd name="adj" fmla="val 3404"/>
            </a:avLst>
          </a:prstGeom>
          <a:solidFill>
            <a:srgbClr val="1A1A1A"/>
          </a:solidFill>
          <a:ln/>
          <a:effectLst>
            <a:outerShdw sx="100000" sy="100000" kx="0" ky="0" algn="bl" rotWithShape="0" blurRad="152400" dist="38100" dir="8100000">
              <a:srgbClr val="000000">
                <a:alpha val="4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309360" y="1325880"/>
            <a:ext cx="5577840" cy="64008"/>
          </a:xfrm>
          <a:prstGeom prst="rect">
            <a:avLst/>
          </a:prstGeom>
          <a:solidFill>
            <a:srgbClr val="17C7BA"/>
          </a:solidFill>
          <a:ln/>
        </p:spPr>
      </p:sp>
      <p:sp>
        <p:nvSpPr>
          <p:cNvPr id="14" name="Text 12"/>
          <p:cNvSpPr/>
          <p:nvPr/>
        </p:nvSpPr>
        <p:spPr>
          <a:xfrm>
            <a:off x="6565392" y="1581912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7C7B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02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7498080" y="160020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5F5F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Diaspora sending goods, not cash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6565392" y="2148840"/>
            <a:ext cx="50292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3A3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relative abroad pays in USDC. The parcel lands at a Turkish address. Remittance becomes a delivered product.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502920" y="3657600"/>
            <a:ext cx="5577840" cy="2148840"/>
          </a:xfrm>
          <a:prstGeom prst="roundRect">
            <a:avLst>
              <a:gd name="adj" fmla="val 3404"/>
            </a:avLst>
          </a:prstGeom>
          <a:solidFill>
            <a:srgbClr val="1A1A1A"/>
          </a:solidFill>
          <a:ln/>
          <a:effectLst>
            <a:outerShdw sx="100000" sy="100000" kx="0" ky="0" algn="bl" rotWithShape="0" blurRad="152400" dist="38100" dir="8100000">
              <a:srgbClr val="000000">
                <a:alpha val="4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502920" y="3657600"/>
            <a:ext cx="5577840" cy="64008"/>
          </a:xfrm>
          <a:prstGeom prst="rect">
            <a:avLst/>
          </a:prstGeom>
          <a:solidFill>
            <a:srgbClr val="17C7BA"/>
          </a:solidFill>
          <a:ln/>
        </p:spPr>
      </p:sp>
      <p:sp>
        <p:nvSpPr>
          <p:cNvPr id="19" name="Text 17"/>
          <p:cNvSpPr/>
          <p:nvPr/>
        </p:nvSpPr>
        <p:spPr>
          <a:xfrm>
            <a:off x="758952" y="3913632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7C7B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03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1691640" y="393192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5F5F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Crypto-native shoppers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758952" y="4480560"/>
            <a:ext cx="50292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3A3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Paste a product URL, review a 15-minute quote, sign once in Freighter. No card number ever enters the app.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6309360" y="3657600"/>
            <a:ext cx="5577840" cy="2148840"/>
          </a:xfrm>
          <a:prstGeom prst="roundRect">
            <a:avLst>
              <a:gd name="adj" fmla="val 3404"/>
            </a:avLst>
          </a:prstGeom>
          <a:solidFill>
            <a:srgbClr val="1A1A1A"/>
          </a:solidFill>
          <a:ln/>
          <a:effectLst>
            <a:outerShdw sx="100000" sy="100000" kx="0" ky="0" algn="bl" rotWithShape="0" blurRad="152400" dist="38100" dir="8100000">
              <a:srgbClr val="000000">
                <a:alpha val="4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6309360" y="3657600"/>
            <a:ext cx="5577840" cy="64008"/>
          </a:xfrm>
          <a:prstGeom prst="rect">
            <a:avLst/>
          </a:prstGeom>
          <a:solidFill>
            <a:srgbClr val="17C7BA"/>
          </a:solidFill>
          <a:ln/>
        </p:spPr>
      </p:sp>
      <p:sp>
        <p:nvSpPr>
          <p:cNvPr id="24" name="Text 22"/>
          <p:cNvSpPr/>
          <p:nvPr/>
        </p:nvSpPr>
        <p:spPr>
          <a:xfrm>
            <a:off x="6565392" y="3913632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7C7B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04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7498080" y="393192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5F5F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operator desk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6565392" y="4480560"/>
            <a:ext cx="50292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3A3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human merchant-of-record who already has store accounts. They buy, attach real order refs, and ship. The protocol does not scrape cards.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E0E0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11155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40" kern="0" dirty="0">
                <a:solidFill>
                  <a:srgbClr val="17C7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VALUE PROPOSITION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493776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5F5F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Paste a link. Pay USDC once. Get the thing.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0" y="6601968"/>
            <a:ext cx="12161520" cy="256032"/>
          </a:xfrm>
          <a:prstGeom prst="rect">
            <a:avLst/>
          </a:prstGeom>
          <a:solidFill>
            <a:srgbClr val="0E0E0E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6601968"/>
            <a:ext cx="7772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20" kern="0" dirty="0">
                <a:solidFill>
                  <a:srgbClr val="7373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SP3ND  ·  STELLAR PRO HACKATHON 2026  ·  ISTANBUL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0332720" y="6601968"/>
            <a:ext cx="1325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373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 /  14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502920" y="1371600"/>
            <a:ext cx="2743200" cy="2606040"/>
          </a:xfrm>
          <a:prstGeom prst="roundRect">
            <a:avLst>
              <a:gd name="adj" fmla="val 2807"/>
            </a:avLst>
          </a:prstGeom>
          <a:solidFill>
            <a:srgbClr val="1A1A1A"/>
          </a:solidFill>
          <a:ln/>
          <a:effectLst>
            <a:outerShdw sx="100000" sy="100000" kx="0" ky="0" algn="bl" rotWithShape="0" blurRad="152400" dist="38100" dir="8100000">
              <a:srgbClr val="000000">
                <a:alpha val="4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502920" y="1371600"/>
            <a:ext cx="2743200" cy="64008"/>
          </a:xfrm>
          <a:prstGeom prst="rect">
            <a:avLst/>
          </a:prstGeom>
          <a:solidFill>
            <a:srgbClr val="17C7BA"/>
          </a:solidFill>
          <a:ln/>
        </p:spPr>
      </p:sp>
      <p:sp>
        <p:nvSpPr>
          <p:cNvPr id="9" name="Text 7"/>
          <p:cNvSpPr/>
          <p:nvPr/>
        </p:nvSpPr>
        <p:spPr>
          <a:xfrm>
            <a:off x="667512" y="1572768"/>
            <a:ext cx="24140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17C7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stores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67512" y="1920240"/>
            <a:ext cx="241401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5F5F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One cart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667512" y="2788920"/>
            <a:ext cx="241401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3A3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Amazon TR, Trendyol, Hepsiburada in a single quote.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3383280" y="1371600"/>
            <a:ext cx="2743200" cy="2606040"/>
          </a:xfrm>
          <a:prstGeom prst="roundRect">
            <a:avLst>
              <a:gd name="adj" fmla="val 2807"/>
            </a:avLst>
          </a:prstGeom>
          <a:solidFill>
            <a:srgbClr val="1A1A1A"/>
          </a:solidFill>
          <a:ln/>
          <a:effectLst>
            <a:outerShdw sx="100000" sy="100000" kx="0" ky="0" algn="bl" rotWithShape="0" blurRad="152400" dist="38100" dir="8100000">
              <a:srgbClr val="000000">
                <a:alpha val="4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383280" y="1371600"/>
            <a:ext cx="2743200" cy="64008"/>
          </a:xfrm>
          <a:prstGeom prst="rect">
            <a:avLst/>
          </a:prstGeom>
          <a:solidFill>
            <a:srgbClr val="17C7BA"/>
          </a:solidFill>
          <a:ln/>
        </p:spPr>
      </p:sp>
      <p:sp>
        <p:nvSpPr>
          <p:cNvPr id="14" name="Text 12"/>
          <p:cNvSpPr/>
          <p:nvPr/>
        </p:nvSpPr>
        <p:spPr>
          <a:xfrm>
            <a:off x="3547872" y="1572768"/>
            <a:ext cx="24140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17C7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transfer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547872" y="1920240"/>
            <a:ext cx="241401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5F5F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One USDC total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3547872" y="2788920"/>
            <a:ext cx="241401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3A3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Goods + shipping + 1 USDC per unit. No second charge.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6263640" y="1371600"/>
            <a:ext cx="2743200" cy="2606040"/>
          </a:xfrm>
          <a:prstGeom prst="roundRect">
            <a:avLst>
              <a:gd name="adj" fmla="val 2807"/>
            </a:avLst>
          </a:prstGeom>
          <a:solidFill>
            <a:srgbClr val="1A1A1A"/>
          </a:solidFill>
          <a:ln/>
          <a:effectLst>
            <a:outerShdw sx="100000" sy="100000" kx="0" ky="0" algn="bl" rotWithShape="0" blurRad="152400" dist="38100" dir="8100000">
              <a:srgbClr val="000000">
                <a:alpha val="4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263640" y="1371600"/>
            <a:ext cx="2743200" cy="64008"/>
          </a:xfrm>
          <a:prstGeom prst="rect">
            <a:avLst/>
          </a:prstGeom>
          <a:solidFill>
            <a:srgbClr val="17C7BA"/>
          </a:solidFill>
          <a:ln/>
        </p:spPr>
      </p:sp>
      <p:sp>
        <p:nvSpPr>
          <p:cNvPr id="19" name="Text 17"/>
          <p:cNvSpPr/>
          <p:nvPr/>
        </p:nvSpPr>
        <p:spPr>
          <a:xfrm>
            <a:off x="6428232" y="1572768"/>
            <a:ext cx="24140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17C7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 cards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428232" y="1920240"/>
            <a:ext cx="241401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5F5F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Keys stay local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6428232" y="2788920"/>
            <a:ext cx="241401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3A3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Freighter signs. The app never sees a secret or a PAN.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9144000" y="1371600"/>
            <a:ext cx="2743200" cy="2606040"/>
          </a:xfrm>
          <a:prstGeom prst="roundRect">
            <a:avLst>
              <a:gd name="adj" fmla="val 2807"/>
            </a:avLst>
          </a:prstGeom>
          <a:solidFill>
            <a:srgbClr val="1A1A1A"/>
          </a:solidFill>
          <a:ln/>
          <a:effectLst>
            <a:outerShdw sx="100000" sy="100000" kx="0" ky="0" algn="bl" rotWithShape="0" blurRad="152400" dist="38100" dir="8100000">
              <a:srgbClr val="000000">
                <a:alpha val="4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9144000" y="1371600"/>
            <a:ext cx="2743200" cy="64008"/>
          </a:xfrm>
          <a:prstGeom prst="rect">
            <a:avLst/>
          </a:prstGeom>
          <a:solidFill>
            <a:srgbClr val="17C7BA"/>
          </a:solidFill>
          <a:ln/>
        </p:spPr>
      </p:sp>
      <p:sp>
        <p:nvSpPr>
          <p:cNvPr id="24" name="Text 22"/>
          <p:cNvSpPr/>
          <p:nvPr/>
        </p:nvSpPr>
        <p:spPr>
          <a:xfrm>
            <a:off x="9308592" y="1572768"/>
            <a:ext cx="24140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17C7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 min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9308592" y="1920240"/>
            <a:ext cx="241401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5F5F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Firm quote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9308592" y="2788920"/>
            <a:ext cx="241401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3A3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Admin-verified TRY prices, TCMB FX, then a locked USDC amount.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502920" y="4206240"/>
            <a:ext cx="11155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A3A3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we refused to fake: auto-buy on merchant sites, escrow we do not yet have, and partial refunds. The operator buys with their own account. The chain only moves USDC.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E0E0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11155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40" kern="0" dirty="0">
                <a:solidFill>
                  <a:srgbClr val="17C7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 ·  MVP  ·  USER FLOW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493776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5F5F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Seven steps judges can click without a script rewrite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0" y="6601968"/>
            <a:ext cx="12161520" cy="256032"/>
          </a:xfrm>
          <a:prstGeom prst="rect">
            <a:avLst/>
          </a:prstGeom>
          <a:solidFill>
            <a:srgbClr val="0E0E0E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6601968"/>
            <a:ext cx="7772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20" kern="0" dirty="0">
                <a:solidFill>
                  <a:srgbClr val="7373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SP3ND  ·  STELLAR PRO HACKATHON 2026  ·  ISTANBUL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0332720" y="6601968"/>
            <a:ext cx="1325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373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 /  14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978408" y="1371600"/>
            <a:ext cx="457200" cy="457200"/>
          </a:xfrm>
          <a:prstGeom prst="ellipse">
            <a:avLst/>
          </a:prstGeom>
          <a:solidFill>
            <a:srgbClr val="17C7BA"/>
          </a:solidFill>
          <a:ln/>
        </p:spPr>
      </p:sp>
      <p:sp>
        <p:nvSpPr>
          <p:cNvPr id="8" name="Text 6"/>
          <p:cNvSpPr/>
          <p:nvPr/>
        </p:nvSpPr>
        <p:spPr>
          <a:xfrm>
            <a:off x="978408" y="13716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E0E0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1508760" y="1572768"/>
            <a:ext cx="1051560" cy="41148"/>
          </a:xfrm>
          <a:prstGeom prst="rect">
            <a:avLst/>
          </a:prstGeom>
          <a:solidFill>
            <a:srgbClr val="0E7A73"/>
          </a:solidFill>
          <a:ln/>
        </p:spPr>
      </p:sp>
      <p:sp>
        <p:nvSpPr>
          <p:cNvPr id="10" name="Text 8"/>
          <p:cNvSpPr/>
          <p:nvPr/>
        </p:nvSpPr>
        <p:spPr>
          <a:xfrm>
            <a:off x="502920" y="196596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5F5F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Sign in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02920" y="2331720"/>
            <a:ext cx="15544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3A3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5-minute Freighter message. Reject it and there is no session.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624328" y="1371600"/>
            <a:ext cx="457200" cy="457200"/>
          </a:xfrm>
          <a:prstGeom prst="ellipse">
            <a:avLst/>
          </a:prstGeom>
          <a:solidFill>
            <a:srgbClr val="17C7BA"/>
          </a:solidFill>
          <a:ln/>
        </p:spPr>
      </p:sp>
      <p:sp>
        <p:nvSpPr>
          <p:cNvPr id="13" name="Text 11"/>
          <p:cNvSpPr/>
          <p:nvPr/>
        </p:nvSpPr>
        <p:spPr>
          <a:xfrm>
            <a:off x="2624328" y="13716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E0E0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3154680" y="1572768"/>
            <a:ext cx="1051560" cy="41148"/>
          </a:xfrm>
          <a:prstGeom prst="rect">
            <a:avLst/>
          </a:prstGeom>
          <a:solidFill>
            <a:srgbClr val="0E7A73"/>
          </a:solidFill>
          <a:ln/>
        </p:spPr>
      </p:sp>
      <p:sp>
        <p:nvSpPr>
          <p:cNvPr id="15" name="Text 13"/>
          <p:cNvSpPr/>
          <p:nvPr/>
        </p:nvSpPr>
        <p:spPr>
          <a:xfrm>
            <a:off x="2148840" y="196596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5F5F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Cart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2148840" y="2331720"/>
            <a:ext cx="15544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3A3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store URLs. Qty + note. Same URL bumps qty. Reload keeps the cart.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270248" y="1371600"/>
            <a:ext cx="457200" cy="457200"/>
          </a:xfrm>
          <a:prstGeom prst="ellipse">
            <a:avLst/>
          </a:prstGeom>
          <a:solidFill>
            <a:srgbClr val="17C7BA"/>
          </a:solidFill>
          <a:ln/>
        </p:spPr>
      </p:sp>
      <p:sp>
        <p:nvSpPr>
          <p:cNvPr id="18" name="Text 16"/>
          <p:cNvSpPr/>
          <p:nvPr/>
        </p:nvSpPr>
        <p:spPr>
          <a:xfrm>
            <a:off x="4270248" y="13716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E0E0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4800600" y="1572768"/>
            <a:ext cx="1051560" cy="41148"/>
          </a:xfrm>
          <a:prstGeom prst="rect">
            <a:avLst/>
          </a:prstGeom>
          <a:solidFill>
            <a:srgbClr val="0E7A73"/>
          </a:solidFill>
          <a:ln/>
        </p:spPr>
      </p:sp>
      <p:sp>
        <p:nvSpPr>
          <p:cNvPr id="20" name="Text 18"/>
          <p:cNvSpPr/>
          <p:nvPr/>
        </p:nvSpPr>
        <p:spPr>
          <a:xfrm>
            <a:off x="3794760" y="196596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5F5F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Address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3794760" y="2331720"/>
            <a:ext cx="15544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3A3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Turkish delivery fields. One request copies cart + address into an order.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5916168" y="1371600"/>
            <a:ext cx="457200" cy="457200"/>
          </a:xfrm>
          <a:prstGeom prst="ellipse">
            <a:avLst/>
          </a:prstGeom>
          <a:solidFill>
            <a:srgbClr val="17C7BA"/>
          </a:solidFill>
          <a:ln/>
        </p:spPr>
      </p:sp>
      <p:sp>
        <p:nvSpPr>
          <p:cNvPr id="23" name="Text 21"/>
          <p:cNvSpPr/>
          <p:nvPr/>
        </p:nvSpPr>
        <p:spPr>
          <a:xfrm>
            <a:off x="5916168" y="13716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E0E0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6446520" y="1572768"/>
            <a:ext cx="1051560" cy="41148"/>
          </a:xfrm>
          <a:prstGeom prst="rect">
            <a:avLst/>
          </a:prstGeom>
          <a:solidFill>
            <a:srgbClr val="0E7A73"/>
          </a:solidFill>
          <a:ln/>
        </p:spPr>
      </p:sp>
      <p:sp>
        <p:nvSpPr>
          <p:cNvPr id="25" name="Text 23"/>
          <p:cNvSpPr/>
          <p:nvPr/>
        </p:nvSpPr>
        <p:spPr>
          <a:xfrm>
            <a:off x="5440680" y="196596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5F5F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Quote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5440680" y="2331720"/>
            <a:ext cx="15544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3A3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Admin confirms TRY, FX, shipping. Fee is 1 USDC per unit. 15-minute lock.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7562088" y="1371600"/>
            <a:ext cx="457200" cy="457200"/>
          </a:xfrm>
          <a:prstGeom prst="ellipse">
            <a:avLst/>
          </a:prstGeom>
          <a:solidFill>
            <a:srgbClr val="17C7BA"/>
          </a:solidFill>
          <a:ln/>
        </p:spPr>
      </p:sp>
      <p:sp>
        <p:nvSpPr>
          <p:cNvPr id="28" name="Text 26"/>
          <p:cNvSpPr/>
          <p:nvPr/>
        </p:nvSpPr>
        <p:spPr>
          <a:xfrm>
            <a:off x="7562088" y="13716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E0E0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8092440" y="1572768"/>
            <a:ext cx="1051560" cy="41148"/>
          </a:xfrm>
          <a:prstGeom prst="rect">
            <a:avLst/>
          </a:prstGeom>
          <a:solidFill>
            <a:srgbClr val="0E7A73"/>
          </a:solidFill>
          <a:ln/>
        </p:spPr>
      </p:sp>
      <p:sp>
        <p:nvSpPr>
          <p:cNvPr id="30" name="Text 28"/>
          <p:cNvSpPr/>
          <p:nvPr/>
        </p:nvSpPr>
        <p:spPr>
          <a:xfrm>
            <a:off x="7086600" y="196596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5F5F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Pay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7086600" y="2331720"/>
            <a:ext cx="15544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3A3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Server builds XDR. User signs. Horizon must match the exact payment.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9208008" y="1371600"/>
            <a:ext cx="457200" cy="457200"/>
          </a:xfrm>
          <a:prstGeom prst="ellipse">
            <a:avLst/>
          </a:prstGeom>
          <a:solidFill>
            <a:srgbClr val="17C7BA"/>
          </a:solidFill>
          <a:ln/>
        </p:spPr>
      </p:sp>
      <p:sp>
        <p:nvSpPr>
          <p:cNvPr id="33" name="Text 31"/>
          <p:cNvSpPr/>
          <p:nvPr/>
        </p:nvSpPr>
        <p:spPr>
          <a:xfrm>
            <a:off x="9208008" y="13716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E0E0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6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9738360" y="1572768"/>
            <a:ext cx="1051560" cy="41148"/>
          </a:xfrm>
          <a:prstGeom prst="rect">
            <a:avLst/>
          </a:prstGeom>
          <a:solidFill>
            <a:srgbClr val="0E7A73"/>
          </a:solidFill>
          <a:ln/>
        </p:spPr>
      </p:sp>
      <p:sp>
        <p:nvSpPr>
          <p:cNvPr id="35" name="Text 33"/>
          <p:cNvSpPr/>
          <p:nvPr/>
        </p:nvSpPr>
        <p:spPr>
          <a:xfrm>
            <a:off x="8732520" y="196596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5F5F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Fulfill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8732520" y="2331720"/>
            <a:ext cx="15544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3A3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Operator buys per store. Partial, then purchased, then shipped.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10853928" y="1371600"/>
            <a:ext cx="457200" cy="457200"/>
          </a:xfrm>
          <a:prstGeom prst="ellipse">
            <a:avLst/>
          </a:prstGeom>
          <a:solidFill>
            <a:srgbClr val="17C7BA"/>
          </a:solidFill>
          <a:ln/>
        </p:spPr>
      </p:sp>
      <p:sp>
        <p:nvSpPr>
          <p:cNvPr id="38" name="Text 36"/>
          <p:cNvSpPr/>
          <p:nvPr/>
        </p:nvSpPr>
        <p:spPr>
          <a:xfrm>
            <a:off x="10853928" y="13716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E0E0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7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10378440" y="196596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5F5F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Refund</a:t>
            </a:r>
            <a:endParaRPr lang="en-US" sz="1400" dirty="0"/>
          </a:p>
        </p:txBody>
      </p:sp>
      <p:sp>
        <p:nvSpPr>
          <p:cNvPr id="40" name="Text 38"/>
          <p:cNvSpPr/>
          <p:nvPr/>
        </p:nvSpPr>
        <p:spPr>
          <a:xfrm>
            <a:off x="10378440" y="2331720"/>
            <a:ext cx="15544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3A3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 USDC only, memo R+order. No partial refunds.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502920" y="4434840"/>
            <a:ext cx="11155680" cy="1874520"/>
          </a:xfrm>
          <a:prstGeom prst="roundRect">
            <a:avLst>
              <a:gd name="adj" fmla="val 3902"/>
            </a:avLst>
          </a:prstGeom>
          <a:solidFill>
            <a:srgbClr val="1A1A1A"/>
          </a:solidFill>
          <a:ln/>
          <a:effectLst>
            <a:outerShdw sx="100000" sy="100000" kx="0" ky="0" algn="bl" rotWithShape="0" blurRad="152400" dist="38100" dir="8100000">
              <a:srgbClr val="000000">
                <a:alpha val="40000"/>
              </a:srgbClr>
            </a:outerShdw>
          </a:effectLst>
        </p:spPr>
      </p:sp>
      <p:sp>
        <p:nvSpPr>
          <p:cNvPr id="42" name="Text 40"/>
          <p:cNvSpPr/>
          <p:nvPr/>
        </p:nvSpPr>
        <p:spPr>
          <a:xfrm>
            <a:off x="731520" y="4617720"/>
            <a:ext cx="10698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7C7B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Wallet isolation is part of the product, not a footnote.</a:t>
            </a:r>
            <a:endParaRPr lang="en-US" sz="1600" dirty="0"/>
          </a:p>
        </p:txBody>
      </p:sp>
      <p:sp>
        <p:nvSpPr>
          <p:cNvPr id="43" name="Text 41"/>
          <p:cNvSpPr/>
          <p:nvPr/>
        </p:nvSpPr>
        <p:spPr>
          <a:xfrm>
            <a:off x="731520" y="5029200"/>
            <a:ext cx="10698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4D4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second Freighter account must not see the first wallet’s cart, address, or orders. Switching accounts forces a new sign-in. Payment XDR is bound to the session wallet. Chrome extension only has activeTab — it never stores a session.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E0E0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11155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40" kern="0" dirty="0">
                <a:solidFill>
                  <a:srgbClr val="17C7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 ·  USER EXPERIENCE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493776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5F5F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 shop a non-crypto relative can finish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0" y="6601968"/>
            <a:ext cx="12161520" cy="256032"/>
          </a:xfrm>
          <a:prstGeom prst="rect">
            <a:avLst/>
          </a:prstGeom>
          <a:solidFill>
            <a:srgbClr val="0E0E0E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6601968"/>
            <a:ext cx="7772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20" kern="0" dirty="0">
                <a:solidFill>
                  <a:srgbClr val="7373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SP3ND  ·  STELLAR PRO HACKATHON 2026  ·  ISTANBUL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0332720" y="6601968"/>
            <a:ext cx="1325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373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 /  14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57200" y="1280160"/>
            <a:ext cx="7543800" cy="4283393"/>
          </a:xfrm>
          <a:prstGeom prst="roundRect">
            <a:avLst>
              <a:gd name="adj" fmla="val 1708"/>
            </a:avLst>
          </a:prstGeom>
          <a:solidFill>
            <a:srgbClr val="1A1A1A"/>
          </a:solidFill>
          <a:ln/>
          <a:effectLst>
            <a:outerShdw sx="100000" sy="100000" kx="0" ky="0" algn="bl" rotWithShape="0" blurRad="152400" dist="38100" dir="8100000">
              <a:srgbClr val="000000">
                <a:alpha val="40000"/>
              </a:srgbClr>
            </a:outerShdw>
          </a:effectLst>
        </p:spPr>
      </p:sp>
      <p:pic>
        <p:nvPicPr>
          <p:cNvPr id="8" name="Image 0" descr="/Users/rose/Desktop/Stellar-Hack_Ist/pitch/assets/home-her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325880"/>
            <a:ext cx="7452360" cy="4191953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8366760" y="1280160"/>
            <a:ext cx="2278532" cy="5001768"/>
          </a:xfrm>
          <a:prstGeom prst="roundRect">
            <a:avLst>
              <a:gd name="adj" fmla="val 4816"/>
            </a:avLst>
          </a:prstGeom>
          <a:solidFill>
            <a:srgbClr val="1A1A1A"/>
          </a:solidFill>
          <a:ln/>
          <a:effectLst>
            <a:outerShdw sx="100000" sy="100000" kx="0" ky="0" algn="bl" rotWithShape="0" blurRad="152400" dist="38100" dir="8100000">
              <a:srgbClr val="000000">
                <a:alpha val="40000"/>
              </a:srgbClr>
            </a:outerShdw>
          </a:effectLst>
        </p:spPr>
      </p:sp>
      <p:pic>
        <p:nvPicPr>
          <p:cNvPr id="10" name="Image 1" descr="/Users/rose/Desktop/Stellar-Hack_Ist/pitch/assets/mobile-her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21624" y="1335024"/>
            <a:ext cx="2168804" cy="489204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502920" y="5989320"/>
            <a:ext cx="7498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3A3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Mosaic storefront  ·  paste-a-link cart  ·  Chrome extension  ·  Turkish copy throughout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E0E0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11155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40" kern="0" dirty="0">
                <a:solidFill>
                  <a:srgbClr val="17C7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PAYMENT MATH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493776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5F5F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quote is a formula. The payment is a real USDC operation.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0" y="6601968"/>
            <a:ext cx="12161520" cy="256032"/>
          </a:xfrm>
          <a:prstGeom prst="rect">
            <a:avLst/>
          </a:prstGeom>
          <a:solidFill>
            <a:srgbClr val="0E0E0E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6601968"/>
            <a:ext cx="7772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20" kern="0" dirty="0">
                <a:solidFill>
                  <a:srgbClr val="7373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SP3ND  ·  STELLAR PRO HACKATHON 2026  ·  ISTANBUL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0332720" y="6601968"/>
            <a:ext cx="1325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373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  /  14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502920" y="1325880"/>
            <a:ext cx="6766560" cy="4937760"/>
          </a:xfrm>
          <a:prstGeom prst="roundRect">
            <a:avLst>
              <a:gd name="adj" fmla="val 1481"/>
            </a:avLst>
          </a:prstGeom>
          <a:solidFill>
            <a:srgbClr val="1A1A1A"/>
          </a:solidFill>
          <a:ln/>
          <a:effectLst>
            <a:outerShdw sx="100000" sy="100000" kx="0" ky="0" algn="bl" rotWithShape="0" blurRad="152400" dist="38100" dir="8100000">
              <a:srgbClr val="000000">
                <a:alpha val="4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502920" y="1325880"/>
            <a:ext cx="6766560" cy="64008"/>
          </a:xfrm>
          <a:prstGeom prst="rect">
            <a:avLst/>
          </a:prstGeom>
          <a:solidFill>
            <a:srgbClr val="17C7BA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1554480"/>
            <a:ext cx="6309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60" kern="0" dirty="0">
                <a:solidFill>
                  <a:srgbClr val="17C7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SERVER-SIDE TOTAL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731520" y="1874520"/>
            <a:ext cx="6309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5F5F5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USDC  =  (goods TRY + shipping TRY) / USDTRY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5F5F5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       +  1 USDC  ×  quantity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731520" y="265176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7C7B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Service fee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2514600" y="2651760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D4D4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USDC per unit. Client cannot override it.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731520" y="3182112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7C7B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FX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2514600" y="3182112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D4D4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Admin confirms TCMB USD selling rate (4 dp).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731520" y="3712464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7C7B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Rounding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2514600" y="3712464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D4D4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Decimal.js, USDC rounded up to 7 dp.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731520" y="4242816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7C7B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Lock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514600" y="4242816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D4D4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 minutes. Timebounds on the Stellar tx.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731520" y="4773168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7C7B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XDR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2514600" y="4773168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D4D4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Built on the server. Freighter only signs.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731520" y="530352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7C7B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Paid status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2514600" y="5303520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D4D4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Only after Horizon matches hash, payer, receiver, issuer, amount, memo, time.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7452360" y="1325880"/>
            <a:ext cx="4206240" cy="1115568"/>
          </a:xfrm>
          <a:prstGeom prst="roundRect">
            <a:avLst>
              <a:gd name="adj" fmla="val 6557"/>
            </a:avLst>
          </a:prstGeom>
          <a:solidFill>
            <a:srgbClr val="1A1A1A"/>
          </a:solidFill>
          <a:ln/>
          <a:effectLst>
            <a:outerShdw sx="100000" sy="100000" kx="0" ky="0" algn="bl" rotWithShape="0" blurRad="152400" dist="38100" dir="8100000">
              <a:srgbClr val="000000">
                <a:alpha val="4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7452360" y="1325880"/>
            <a:ext cx="4206240" cy="64008"/>
          </a:xfrm>
          <a:prstGeom prst="rect">
            <a:avLst/>
          </a:prstGeom>
          <a:solidFill>
            <a:srgbClr val="17C7BA"/>
          </a:solidFill>
          <a:ln/>
        </p:spPr>
      </p:sp>
      <p:sp>
        <p:nvSpPr>
          <p:cNvPr id="25" name="Text 23"/>
          <p:cNvSpPr/>
          <p:nvPr/>
        </p:nvSpPr>
        <p:spPr>
          <a:xfrm>
            <a:off x="7662672" y="1453896"/>
            <a:ext cx="3794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5F5F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No double pay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7662672" y="1764792"/>
            <a:ext cx="3794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3A3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Network delay keeps watching the same hash. A second payment is not prepared.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7452360" y="2560320"/>
            <a:ext cx="4206240" cy="1115568"/>
          </a:xfrm>
          <a:prstGeom prst="roundRect">
            <a:avLst>
              <a:gd name="adj" fmla="val 6557"/>
            </a:avLst>
          </a:prstGeom>
          <a:solidFill>
            <a:srgbClr val="1A1A1A"/>
          </a:solidFill>
          <a:ln/>
          <a:effectLst>
            <a:outerShdw sx="100000" sy="100000" kx="0" ky="0" algn="bl" rotWithShape="0" blurRad="152400" dist="38100" dir="8100000">
              <a:srgbClr val="000000">
                <a:alpha val="40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7452360" y="2560320"/>
            <a:ext cx="4206240" cy="64008"/>
          </a:xfrm>
          <a:prstGeom prst="rect">
            <a:avLst/>
          </a:prstGeom>
          <a:solidFill>
            <a:srgbClr val="17C7BA"/>
          </a:solidFill>
          <a:ln/>
        </p:spPr>
      </p:sp>
      <p:sp>
        <p:nvSpPr>
          <p:cNvPr id="29" name="Text 27"/>
          <p:cNvSpPr/>
          <p:nvPr/>
        </p:nvSpPr>
        <p:spPr>
          <a:xfrm>
            <a:off x="7662672" y="2688336"/>
            <a:ext cx="3794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5F5F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Refresh-safe</a:t>
            </a: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7662672" y="2999232"/>
            <a:ext cx="3794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3A3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Reload continues polling. Quote/cancel stay locked while an attempt is live.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7452360" y="3794760"/>
            <a:ext cx="4206240" cy="1115568"/>
          </a:xfrm>
          <a:prstGeom prst="roundRect">
            <a:avLst>
              <a:gd name="adj" fmla="val 6557"/>
            </a:avLst>
          </a:prstGeom>
          <a:solidFill>
            <a:srgbClr val="1A1A1A"/>
          </a:solidFill>
          <a:ln/>
          <a:effectLst>
            <a:outerShdw sx="100000" sy="100000" kx="0" ky="0" algn="bl" rotWithShape="0" blurRad="152400" dist="38100" dir="8100000">
              <a:srgbClr val="000000">
                <a:alpha val="40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7452360" y="3794760"/>
            <a:ext cx="4206240" cy="64008"/>
          </a:xfrm>
          <a:prstGeom prst="rect">
            <a:avLst/>
          </a:prstGeom>
          <a:solidFill>
            <a:srgbClr val="17C7BA"/>
          </a:solidFill>
          <a:ln/>
        </p:spPr>
      </p:sp>
      <p:sp>
        <p:nvSpPr>
          <p:cNvPr id="33" name="Text 31"/>
          <p:cNvSpPr/>
          <p:nvPr/>
        </p:nvSpPr>
        <p:spPr>
          <a:xfrm>
            <a:off x="7662672" y="3922776"/>
            <a:ext cx="3794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5F5F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Reject-safe</a:t>
            </a:r>
            <a:endParaRPr lang="en-US" sz="1500" dirty="0"/>
          </a:p>
        </p:txBody>
      </p:sp>
      <p:sp>
        <p:nvSpPr>
          <p:cNvPr id="34" name="Text 32"/>
          <p:cNvSpPr/>
          <p:nvPr/>
        </p:nvSpPr>
        <p:spPr>
          <a:xfrm>
            <a:off x="7662672" y="4233672"/>
            <a:ext cx="3794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3A3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If Freighter refuses, the same XDR can be signed again.</a:t>
            </a:r>
            <a:endParaRPr lang="en-US" sz="1300" dirty="0"/>
          </a:p>
        </p:txBody>
      </p:sp>
      <p:sp>
        <p:nvSpPr>
          <p:cNvPr id="35" name="Shape 33"/>
          <p:cNvSpPr/>
          <p:nvPr/>
        </p:nvSpPr>
        <p:spPr>
          <a:xfrm>
            <a:off x="7452360" y="5029200"/>
            <a:ext cx="4206240" cy="1115568"/>
          </a:xfrm>
          <a:prstGeom prst="roundRect">
            <a:avLst>
              <a:gd name="adj" fmla="val 6557"/>
            </a:avLst>
          </a:prstGeom>
          <a:solidFill>
            <a:srgbClr val="1A1A1A"/>
          </a:solidFill>
          <a:ln/>
          <a:effectLst>
            <a:outerShdw sx="100000" sy="100000" kx="0" ky="0" algn="bl" rotWithShape="0" blurRad="152400" dist="38100" dir="8100000">
              <a:srgbClr val="000000">
                <a:alpha val="40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7452360" y="5029200"/>
            <a:ext cx="4206240" cy="64008"/>
          </a:xfrm>
          <a:prstGeom prst="rect">
            <a:avLst/>
          </a:prstGeom>
          <a:solidFill>
            <a:srgbClr val="17C7BA"/>
          </a:solidFill>
          <a:ln/>
        </p:spPr>
      </p:sp>
      <p:sp>
        <p:nvSpPr>
          <p:cNvPr id="37" name="Text 35"/>
          <p:cNvSpPr/>
          <p:nvPr/>
        </p:nvSpPr>
        <p:spPr>
          <a:xfrm>
            <a:off x="7662672" y="5157216"/>
            <a:ext cx="3794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5F5F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Unlock rule</a:t>
            </a:r>
            <a:endParaRPr lang="en-US" sz="1500" dirty="0"/>
          </a:p>
        </p:txBody>
      </p:sp>
      <p:sp>
        <p:nvSpPr>
          <p:cNvPr id="38" name="Text 36"/>
          <p:cNvSpPr/>
          <p:nvPr/>
        </p:nvSpPr>
        <p:spPr>
          <a:xfrm>
            <a:off x="7662672" y="5468112"/>
            <a:ext cx="3794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3A3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After expiry + 60s of Horizon ledger time, the hash is checked, then the lock lifts.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E0E0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11155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40" kern="0" dirty="0">
                <a:solidFill>
                  <a:srgbClr val="17C7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 ·  TECHNICAL DOCUMENTATION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493776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5F5F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Classic Stellar payments, a Next.js desk, no secrets on the server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0" y="6601968"/>
            <a:ext cx="12161520" cy="256032"/>
          </a:xfrm>
          <a:prstGeom prst="rect">
            <a:avLst/>
          </a:prstGeom>
          <a:solidFill>
            <a:srgbClr val="0E0E0E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6601968"/>
            <a:ext cx="7772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20" kern="0" dirty="0">
                <a:solidFill>
                  <a:srgbClr val="7373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SP3ND  ·  STELLAR PRO HACKATHON 2026  ·  ISTANBUL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0332720" y="6601968"/>
            <a:ext cx="1325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373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  /  14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502920" y="1325880"/>
            <a:ext cx="3657600" cy="1234440"/>
          </a:xfrm>
          <a:prstGeom prst="roundRect">
            <a:avLst>
              <a:gd name="adj" fmla="val 5926"/>
            </a:avLst>
          </a:prstGeom>
          <a:solidFill>
            <a:srgbClr val="1A1A1A"/>
          </a:solidFill>
          <a:ln/>
          <a:effectLst>
            <a:outerShdw sx="100000" sy="100000" kx="0" ky="0" algn="bl" rotWithShape="0" blurRad="152400" dist="38100" dir="8100000">
              <a:srgbClr val="000000">
                <a:alpha val="4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502920" y="1325880"/>
            <a:ext cx="3657600" cy="64008"/>
          </a:xfrm>
          <a:prstGeom prst="rect">
            <a:avLst/>
          </a:prstGeom>
          <a:solidFill>
            <a:srgbClr val="17C7BA"/>
          </a:solidFill>
          <a:ln/>
        </p:spPr>
      </p:sp>
      <p:sp>
        <p:nvSpPr>
          <p:cNvPr id="9" name="Text 7"/>
          <p:cNvSpPr/>
          <p:nvPr/>
        </p:nvSpPr>
        <p:spPr>
          <a:xfrm>
            <a:off x="685800" y="1490472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40" kern="0" dirty="0">
                <a:solidFill>
                  <a:srgbClr val="17C7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CLIENT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85800" y="1783080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4D4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Next.js 16  ·  Freighter API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D4D4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Chrome extension (activeTab)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297680" y="1325880"/>
            <a:ext cx="3657600" cy="1234440"/>
          </a:xfrm>
          <a:prstGeom prst="roundRect">
            <a:avLst>
              <a:gd name="adj" fmla="val 5926"/>
            </a:avLst>
          </a:prstGeom>
          <a:solidFill>
            <a:srgbClr val="1A1A1A"/>
          </a:solidFill>
          <a:ln/>
          <a:effectLst>
            <a:outerShdw sx="100000" sy="100000" kx="0" ky="0" algn="bl" rotWithShape="0" blurRad="152400" dist="38100" dir="8100000">
              <a:srgbClr val="000000">
                <a:alpha val="4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297680" y="1325880"/>
            <a:ext cx="3657600" cy="64008"/>
          </a:xfrm>
          <a:prstGeom prst="rect">
            <a:avLst/>
          </a:prstGeom>
          <a:solidFill>
            <a:srgbClr val="17C7BA"/>
          </a:solidFill>
          <a:ln/>
        </p:spPr>
      </p:sp>
      <p:sp>
        <p:nvSpPr>
          <p:cNvPr id="13" name="Text 11"/>
          <p:cNvSpPr/>
          <p:nvPr/>
        </p:nvSpPr>
        <p:spPr>
          <a:xfrm>
            <a:off x="4480560" y="1490472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40" kern="0" dirty="0">
                <a:solidFill>
                  <a:srgbClr val="17C7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480560" y="1783080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4D4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Route handlers  ·  Prisma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D4D4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Wallet-scoped sessions (8h)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8092440" y="1325880"/>
            <a:ext cx="3566160" cy="1234440"/>
          </a:xfrm>
          <a:prstGeom prst="roundRect">
            <a:avLst>
              <a:gd name="adj" fmla="val 5926"/>
            </a:avLst>
          </a:prstGeom>
          <a:solidFill>
            <a:srgbClr val="1A1A1A"/>
          </a:solidFill>
          <a:ln/>
          <a:effectLst>
            <a:outerShdw sx="100000" sy="100000" kx="0" ky="0" algn="bl" rotWithShape="0" blurRad="152400" dist="38100" dir="8100000">
              <a:srgbClr val="000000">
                <a:alpha val="4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8092440" y="1325880"/>
            <a:ext cx="3566160" cy="64008"/>
          </a:xfrm>
          <a:prstGeom prst="rect">
            <a:avLst/>
          </a:prstGeom>
          <a:solidFill>
            <a:srgbClr val="17C7BA"/>
          </a:solidFill>
          <a:ln/>
        </p:spPr>
      </p:sp>
      <p:sp>
        <p:nvSpPr>
          <p:cNvPr id="17" name="Text 15"/>
          <p:cNvSpPr/>
          <p:nvPr/>
        </p:nvSpPr>
        <p:spPr>
          <a:xfrm>
            <a:off x="8275320" y="1490472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40" kern="0" dirty="0">
                <a:solidFill>
                  <a:srgbClr val="17C7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8275320" y="1783080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4D4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SQLite  ·  cart, orders, memos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D4D4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Login challenges, payment attempts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502920" y="2788920"/>
            <a:ext cx="3657600" cy="1234440"/>
          </a:xfrm>
          <a:prstGeom prst="roundRect">
            <a:avLst>
              <a:gd name="adj" fmla="val 5926"/>
            </a:avLst>
          </a:prstGeom>
          <a:solidFill>
            <a:srgbClr val="1A1A1A"/>
          </a:solidFill>
          <a:ln/>
          <a:effectLst>
            <a:outerShdw sx="100000" sy="100000" kx="0" ky="0" algn="bl" rotWithShape="0" blurRad="152400" dist="38100" dir="8100000">
              <a:srgbClr val="000000">
                <a:alpha val="4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502920" y="2788920"/>
            <a:ext cx="3657600" cy="64008"/>
          </a:xfrm>
          <a:prstGeom prst="rect">
            <a:avLst/>
          </a:prstGeom>
          <a:solidFill>
            <a:srgbClr val="17C7BA"/>
          </a:solidFill>
          <a:ln/>
        </p:spPr>
      </p:sp>
      <p:sp>
        <p:nvSpPr>
          <p:cNvPr id="21" name="Text 19"/>
          <p:cNvSpPr/>
          <p:nvPr/>
        </p:nvSpPr>
        <p:spPr>
          <a:xfrm>
            <a:off x="685800" y="2953512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40" kern="0" dirty="0">
                <a:solidFill>
                  <a:srgbClr val="17C7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STELLAR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85800" y="3246120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4D4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stellar-sdk  ·  Horizon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D4D4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USDC payment + memo + timebounds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4297680" y="2788920"/>
            <a:ext cx="3657600" cy="1234440"/>
          </a:xfrm>
          <a:prstGeom prst="roundRect">
            <a:avLst>
              <a:gd name="adj" fmla="val 5926"/>
            </a:avLst>
          </a:prstGeom>
          <a:solidFill>
            <a:srgbClr val="1A1A1A"/>
          </a:solidFill>
          <a:ln/>
          <a:effectLst>
            <a:outerShdw sx="100000" sy="100000" kx="0" ky="0" algn="bl" rotWithShape="0" blurRad="152400" dist="38100" dir="8100000">
              <a:srgbClr val="000000">
                <a:alpha val="4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297680" y="2788920"/>
            <a:ext cx="3657600" cy="64008"/>
          </a:xfrm>
          <a:prstGeom prst="rect">
            <a:avLst/>
          </a:prstGeom>
          <a:solidFill>
            <a:srgbClr val="17C7BA"/>
          </a:solidFill>
          <a:ln/>
        </p:spPr>
      </p:sp>
      <p:sp>
        <p:nvSpPr>
          <p:cNvPr id="25" name="Text 23"/>
          <p:cNvSpPr/>
          <p:nvPr/>
        </p:nvSpPr>
        <p:spPr>
          <a:xfrm>
            <a:off x="4480560" y="2953512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40" kern="0" dirty="0">
                <a:solidFill>
                  <a:srgbClr val="17C7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AUTH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4480560" y="3246120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4D4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SEP-53 message signing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D4D4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SHA-256 + Ed25519, one-time nonce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8092440" y="2788920"/>
            <a:ext cx="3566160" cy="1234440"/>
          </a:xfrm>
          <a:prstGeom prst="roundRect">
            <a:avLst>
              <a:gd name="adj" fmla="val 5926"/>
            </a:avLst>
          </a:prstGeom>
          <a:solidFill>
            <a:srgbClr val="1A1A1A"/>
          </a:solidFill>
          <a:ln/>
          <a:effectLst>
            <a:outerShdw sx="100000" sy="100000" kx="0" ky="0" algn="bl" rotWithShape="0" blurRad="152400" dist="38100" dir="8100000">
              <a:srgbClr val="000000">
                <a:alpha val="40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8092440" y="2788920"/>
            <a:ext cx="3566160" cy="64008"/>
          </a:xfrm>
          <a:prstGeom prst="rect">
            <a:avLst/>
          </a:prstGeom>
          <a:solidFill>
            <a:srgbClr val="17C7BA"/>
          </a:solidFill>
          <a:ln/>
        </p:spPr>
      </p:sp>
      <p:sp>
        <p:nvSpPr>
          <p:cNvPr id="29" name="Text 27"/>
          <p:cNvSpPr/>
          <p:nvPr/>
        </p:nvSpPr>
        <p:spPr>
          <a:xfrm>
            <a:off x="8275320" y="2953512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40" kern="0" dirty="0">
                <a:solidFill>
                  <a:srgbClr val="17C7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FX / CATALOG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8275320" y="3246120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4D4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TCMB USD selling rate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D4D4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Amazon TR fetch · Rainforest fallback</a:t>
            </a:r>
            <a:endParaRPr lang="en-US" sz="1400" dirty="0"/>
          </a:p>
        </p:txBody>
      </p:sp>
      <p:sp>
        <p:nvSpPr>
          <p:cNvPr id="31" name="Shape 29"/>
          <p:cNvSpPr/>
          <p:nvPr/>
        </p:nvSpPr>
        <p:spPr>
          <a:xfrm>
            <a:off x="502920" y="4251960"/>
            <a:ext cx="5623560" cy="1234440"/>
          </a:xfrm>
          <a:prstGeom prst="roundRect">
            <a:avLst>
              <a:gd name="adj" fmla="val 5926"/>
            </a:avLst>
          </a:prstGeom>
          <a:solidFill>
            <a:srgbClr val="1A1A1A"/>
          </a:solidFill>
          <a:ln/>
          <a:effectLst>
            <a:outerShdw sx="100000" sy="100000" kx="0" ky="0" algn="bl" rotWithShape="0" blurRad="152400" dist="38100" dir="8100000">
              <a:srgbClr val="000000">
                <a:alpha val="40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502920" y="4251960"/>
            <a:ext cx="5623560" cy="64008"/>
          </a:xfrm>
          <a:prstGeom prst="rect">
            <a:avLst/>
          </a:prstGeom>
          <a:solidFill>
            <a:srgbClr val="17C7BA"/>
          </a:solidFill>
          <a:ln/>
        </p:spPr>
      </p:sp>
      <p:sp>
        <p:nvSpPr>
          <p:cNvPr id="33" name="Text 31"/>
          <p:cNvSpPr/>
          <p:nvPr/>
        </p:nvSpPr>
        <p:spPr>
          <a:xfrm>
            <a:off x="685800" y="4416552"/>
            <a:ext cx="5257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40" kern="0" dirty="0">
                <a:solidFill>
                  <a:srgbClr val="17C7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OPERATOR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685800" y="4709160"/>
            <a:ext cx="5257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4D4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Admin quotes, store-by-store purchase refs, shipping, full refund (R + memo)</a:t>
            </a:r>
            <a:endParaRPr lang="en-US" sz="1400" dirty="0"/>
          </a:p>
        </p:txBody>
      </p:sp>
      <p:sp>
        <p:nvSpPr>
          <p:cNvPr id="35" name="Shape 33"/>
          <p:cNvSpPr/>
          <p:nvPr/>
        </p:nvSpPr>
        <p:spPr>
          <a:xfrm>
            <a:off x="6309360" y="4251960"/>
            <a:ext cx="5349240" cy="1234440"/>
          </a:xfrm>
          <a:prstGeom prst="roundRect">
            <a:avLst>
              <a:gd name="adj" fmla="val 5926"/>
            </a:avLst>
          </a:prstGeom>
          <a:solidFill>
            <a:srgbClr val="1A1A1A"/>
          </a:solidFill>
          <a:ln/>
          <a:effectLst>
            <a:outerShdw sx="100000" sy="100000" kx="0" ky="0" algn="bl" rotWithShape="0" blurRad="152400" dist="38100" dir="8100000">
              <a:srgbClr val="000000">
                <a:alpha val="40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6309360" y="4251960"/>
            <a:ext cx="5349240" cy="64008"/>
          </a:xfrm>
          <a:prstGeom prst="rect">
            <a:avLst/>
          </a:prstGeom>
          <a:solidFill>
            <a:srgbClr val="17C7BA"/>
          </a:solidFill>
          <a:ln/>
        </p:spPr>
      </p:sp>
      <p:sp>
        <p:nvSpPr>
          <p:cNvPr id="37" name="Text 35"/>
          <p:cNvSpPr/>
          <p:nvPr/>
        </p:nvSpPr>
        <p:spPr>
          <a:xfrm>
            <a:off x="6492240" y="4416552"/>
            <a:ext cx="4983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40" kern="0" dirty="0">
                <a:solidFill>
                  <a:srgbClr val="17C7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MERCHANTS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6492240" y="4709160"/>
            <a:ext cx="4983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4D4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Amazon Türkiye  ·  Trendyol  ·  Hepsiburada — bought with the operator’s own account, never the app’s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E0E0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11155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40" kern="0" dirty="0">
                <a:solidFill>
                  <a:srgbClr val="17C7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 ·  ECOSYSTEM FIT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493776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5F5F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Stellar is the checkout, not a badge on the footer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0" y="6601968"/>
            <a:ext cx="12161520" cy="256032"/>
          </a:xfrm>
          <a:prstGeom prst="rect">
            <a:avLst/>
          </a:prstGeom>
          <a:solidFill>
            <a:srgbClr val="0E0E0E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6601968"/>
            <a:ext cx="7772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20" kern="0" dirty="0">
                <a:solidFill>
                  <a:srgbClr val="7373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SP3ND  ·  STELLAR PRO HACKATHON 2026  ·  ISTANBUL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0332720" y="6601968"/>
            <a:ext cx="1325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373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  /  14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502920" y="1280160"/>
            <a:ext cx="11155680" cy="713232"/>
          </a:xfrm>
          <a:prstGeom prst="roundRect">
            <a:avLst>
              <a:gd name="adj" fmla="val 7692"/>
            </a:avLst>
          </a:prstGeom>
          <a:solidFill>
            <a:srgbClr val="1A1A1A"/>
          </a:solidFill>
          <a:ln/>
        </p:spPr>
      </p:sp>
      <p:sp>
        <p:nvSpPr>
          <p:cNvPr id="8" name="Shape 6"/>
          <p:cNvSpPr/>
          <p:nvPr/>
        </p:nvSpPr>
        <p:spPr>
          <a:xfrm>
            <a:off x="502920" y="1280160"/>
            <a:ext cx="73152" cy="713232"/>
          </a:xfrm>
          <a:prstGeom prst="rect">
            <a:avLst/>
          </a:prstGeom>
          <a:solidFill>
            <a:srgbClr val="17C7BA"/>
          </a:solidFill>
          <a:ln/>
        </p:spPr>
      </p:sp>
      <p:sp>
        <p:nvSpPr>
          <p:cNvPr id="9" name="Text 7"/>
          <p:cNvSpPr/>
          <p:nvPr/>
        </p:nvSpPr>
        <p:spPr>
          <a:xfrm>
            <a:off x="822960" y="1280160"/>
            <a:ext cx="21945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C7B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Freighter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3108960" y="1280160"/>
            <a:ext cx="83210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4D4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Wallet connect, message sign-in, and the USDC payment signature. Nothing is custodied.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02920" y="2084832"/>
            <a:ext cx="11155680" cy="713232"/>
          </a:xfrm>
          <a:prstGeom prst="roundRect">
            <a:avLst>
              <a:gd name="adj" fmla="val 7692"/>
            </a:avLst>
          </a:prstGeom>
          <a:solidFill>
            <a:srgbClr val="141414"/>
          </a:solidFill>
          <a:ln/>
        </p:spPr>
      </p:sp>
      <p:sp>
        <p:nvSpPr>
          <p:cNvPr id="12" name="Shape 10"/>
          <p:cNvSpPr/>
          <p:nvPr/>
        </p:nvSpPr>
        <p:spPr>
          <a:xfrm>
            <a:off x="502920" y="2084832"/>
            <a:ext cx="73152" cy="713232"/>
          </a:xfrm>
          <a:prstGeom prst="rect">
            <a:avLst/>
          </a:prstGeom>
          <a:solidFill>
            <a:srgbClr val="17C7BA"/>
          </a:solidFill>
          <a:ln/>
        </p:spPr>
      </p:sp>
      <p:sp>
        <p:nvSpPr>
          <p:cNvPr id="13" name="Text 11"/>
          <p:cNvSpPr/>
          <p:nvPr/>
        </p:nvSpPr>
        <p:spPr>
          <a:xfrm>
            <a:off x="822960" y="2084832"/>
            <a:ext cx="21945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C7B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SEP-53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3108960" y="2084832"/>
            <a:ext cx="83210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4D4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Documented signed-message format. Origin + wallet + nonce + 5-minute expiry. Atomic one-time use.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502920" y="2889504"/>
            <a:ext cx="11155680" cy="713232"/>
          </a:xfrm>
          <a:prstGeom prst="roundRect">
            <a:avLst>
              <a:gd name="adj" fmla="val 7692"/>
            </a:avLst>
          </a:prstGeom>
          <a:solidFill>
            <a:srgbClr val="1A1A1A"/>
          </a:solidFill>
          <a:ln/>
        </p:spPr>
      </p:sp>
      <p:sp>
        <p:nvSpPr>
          <p:cNvPr id="16" name="Shape 14"/>
          <p:cNvSpPr/>
          <p:nvPr/>
        </p:nvSpPr>
        <p:spPr>
          <a:xfrm>
            <a:off x="502920" y="2889504"/>
            <a:ext cx="73152" cy="713232"/>
          </a:xfrm>
          <a:prstGeom prst="rect">
            <a:avLst/>
          </a:prstGeom>
          <a:solidFill>
            <a:srgbClr val="17C7BA"/>
          </a:solidFill>
          <a:ln/>
        </p:spPr>
      </p:sp>
      <p:sp>
        <p:nvSpPr>
          <p:cNvPr id="17" name="Text 15"/>
          <p:cNvSpPr/>
          <p:nvPr/>
        </p:nvSpPr>
        <p:spPr>
          <a:xfrm>
            <a:off x="822960" y="2889504"/>
            <a:ext cx="21945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C7B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Circle USDC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3108960" y="2889504"/>
            <a:ext cx="83210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4D4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Testnet issuer GBBD47…FLA5  ·  Mainnet issuer GA5ZSEJY…KZVN. Trustlines checked on both sides.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502920" y="3694176"/>
            <a:ext cx="11155680" cy="713232"/>
          </a:xfrm>
          <a:prstGeom prst="roundRect">
            <a:avLst>
              <a:gd name="adj" fmla="val 7692"/>
            </a:avLst>
          </a:prstGeom>
          <a:solidFill>
            <a:srgbClr val="141414"/>
          </a:solidFill>
          <a:ln/>
        </p:spPr>
      </p:sp>
      <p:sp>
        <p:nvSpPr>
          <p:cNvPr id="20" name="Shape 18"/>
          <p:cNvSpPr/>
          <p:nvPr/>
        </p:nvSpPr>
        <p:spPr>
          <a:xfrm>
            <a:off x="502920" y="3694176"/>
            <a:ext cx="73152" cy="713232"/>
          </a:xfrm>
          <a:prstGeom prst="rect">
            <a:avLst/>
          </a:prstGeom>
          <a:solidFill>
            <a:srgbClr val="17C7BA"/>
          </a:solidFill>
          <a:ln/>
        </p:spPr>
      </p:sp>
      <p:sp>
        <p:nvSpPr>
          <p:cNvPr id="21" name="Text 19"/>
          <p:cNvSpPr/>
          <p:nvPr/>
        </p:nvSpPr>
        <p:spPr>
          <a:xfrm>
            <a:off x="822960" y="3694176"/>
            <a:ext cx="21945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C7B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Horizon + SDK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3108960" y="3694176"/>
            <a:ext cx="83210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4D4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@stellar/stellar-sdk builds the XDR, submits, and verifies the exact payment operation.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502920" y="4498848"/>
            <a:ext cx="11155680" cy="713232"/>
          </a:xfrm>
          <a:prstGeom prst="roundRect">
            <a:avLst>
              <a:gd name="adj" fmla="val 7692"/>
            </a:avLst>
          </a:prstGeom>
          <a:solidFill>
            <a:srgbClr val="1A1A1A"/>
          </a:solidFill>
          <a:ln/>
        </p:spPr>
      </p:sp>
      <p:sp>
        <p:nvSpPr>
          <p:cNvPr id="24" name="Shape 22"/>
          <p:cNvSpPr/>
          <p:nvPr/>
        </p:nvSpPr>
        <p:spPr>
          <a:xfrm>
            <a:off x="502920" y="4498848"/>
            <a:ext cx="73152" cy="713232"/>
          </a:xfrm>
          <a:prstGeom prst="rect">
            <a:avLst/>
          </a:prstGeom>
          <a:solidFill>
            <a:srgbClr val="17C7BA"/>
          </a:solidFill>
          <a:ln/>
        </p:spPr>
      </p:sp>
      <p:sp>
        <p:nvSpPr>
          <p:cNvPr id="25" name="Text 23"/>
          <p:cNvSpPr/>
          <p:nvPr/>
        </p:nvSpPr>
        <p:spPr>
          <a:xfrm>
            <a:off x="822960" y="4498848"/>
            <a:ext cx="21945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C7B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Memo + bounds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3108960" y="4498848"/>
            <a:ext cx="83210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4D4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Order memo on the payment. maxTime = quote expiry. Replay and overpay are rejected.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502920" y="5303520"/>
            <a:ext cx="11155680" cy="713232"/>
          </a:xfrm>
          <a:prstGeom prst="roundRect">
            <a:avLst>
              <a:gd name="adj" fmla="val 7692"/>
            </a:avLst>
          </a:prstGeom>
          <a:solidFill>
            <a:srgbClr val="141414"/>
          </a:solidFill>
          <a:ln/>
        </p:spPr>
      </p:sp>
      <p:sp>
        <p:nvSpPr>
          <p:cNvPr id="28" name="Shape 26"/>
          <p:cNvSpPr/>
          <p:nvPr/>
        </p:nvSpPr>
        <p:spPr>
          <a:xfrm>
            <a:off x="502920" y="5303520"/>
            <a:ext cx="73152" cy="713232"/>
          </a:xfrm>
          <a:prstGeom prst="rect">
            <a:avLst/>
          </a:prstGeom>
          <a:solidFill>
            <a:srgbClr val="17C7BA"/>
          </a:solidFill>
          <a:ln/>
        </p:spPr>
      </p:sp>
      <p:sp>
        <p:nvSpPr>
          <p:cNvPr id="29" name="Text 27"/>
          <p:cNvSpPr/>
          <p:nvPr/>
        </p:nvSpPr>
        <p:spPr>
          <a:xfrm>
            <a:off x="822960" y="5303520"/>
            <a:ext cx="21945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C7B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Skills / docs</a:t>
            </a: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3108960" y="5303520"/>
            <a:ext cx="83210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4D4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Stellar signing docs, SEP-53, Freighter API, Horizon. TR Mock Anchor is next — not a mocked SEP-6 today.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E0E0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11155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40" kern="0" dirty="0">
                <a:solidFill>
                  <a:srgbClr val="17C7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 ·  TECHNICAL IMPLEMENTATION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493776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5F5F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Not mocked. Not hardcoded. Deliberately scoped.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0" y="6601968"/>
            <a:ext cx="12161520" cy="256032"/>
          </a:xfrm>
          <a:prstGeom prst="rect">
            <a:avLst/>
          </a:prstGeom>
          <a:solidFill>
            <a:srgbClr val="0E0E0E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6601968"/>
            <a:ext cx="7772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20" kern="0" dirty="0">
                <a:solidFill>
                  <a:srgbClr val="7373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SP3ND  ·  STELLAR PRO HACKATHON 2026  ·  ISTANBUL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0332720" y="6601968"/>
            <a:ext cx="1325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373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 /  14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502920" y="1325880"/>
            <a:ext cx="5577840" cy="1463040"/>
          </a:xfrm>
          <a:prstGeom prst="roundRect">
            <a:avLst>
              <a:gd name="adj" fmla="val 5000"/>
            </a:avLst>
          </a:prstGeom>
          <a:solidFill>
            <a:srgbClr val="1A1A1A"/>
          </a:solidFill>
          <a:ln/>
          <a:effectLst>
            <a:outerShdw sx="100000" sy="100000" kx="0" ky="0" algn="bl" rotWithShape="0" blurRad="152400" dist="38100" dir="8100000">
              <a:srgbClr val="000000">
                <a:alpha val="4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502920" y="1325880"/>
            <a:ext cx="5577840" cy="64008"/>
          </a:xfrm>
          <a:prstGeom prst="rect">
            <a:avLst/>
          </a:prstGeom>
          <a:solidFill>
            <a:srgbClr val="17C7BA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1490472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5F5F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Real Horizon path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731520" y="1856232"/>
            <a:ext cx="5120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3A3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npm run test:testnet funds Friendbot accounts, opens trustlines, issues demo USDC, and drives the HTTP API against live testnet.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02920" y="2926080"/>
            <a:ext cx="5577840" cy="1463040"/>
          </a:xfrm>
          <a:prstGeom prst="roundRect">
            <a:avLst>
              <a:gd name="adj" fmla="val 5000"/>
            </a:avLst>
          </a:prstGeom>
          <a:solidFill>
            <a:srgbClr val="1A1A1A"/>
          </a:solidFill>
          <a:ln/>
          <a:effectLst>
            <a:outerShdw sx="100000" sy="100000" kx="0" ky="0" algn="bl" rotWithShape="0" blurRad="152400" dist="38100" dir="8100000">
              <a:srgbClr val="000000">
                <a:alpha val="4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502920" y="2926080"/>
            <a:ext cx="5577840" cy="64008"/>
          </a:xfrm>
          <a:prstGeom prst="rect">
            <a:avLst/>
          </a:prstGeom>
          <a:solidFill>
            <a:srgbClr val="17C7BA"/>
          </a:solidFill>
          <a:ln/>
        </p:spPr>
      </p:sp>
      <p:sp>
        <p:nvSpPr>
          <p:cNvPr id="13" name="Text 11"/>
          <p:cNvSpPr/>
          <p:nvPr/>
        </p:nvSpPr>
        <p:spPr>
          <a:xfrm>
            <a:off x="731520" y="3090672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5F5F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Unit + API tests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731520" y="3456432"/>
            <a:ext cx="5120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3A3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npm test uses temp SQLite and a fake Horizon. npm run test:api signs two wallets and asserts isolation, then deletes its rows.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502920" y="4526280"/>
            <a:ext cx="5577840" cy="1463040"/>
          </a:xfrm>
          <a:prstGeom prst="roundRect">
            <a:avLst>
              <a:gd name="adj" fmla="val 5000"/>
            </a:avLst>
          </a:prstGeom>
          <a:solidFill>
            <a:srgbClr val="1A1A1A"/>
          </a:solidFill>
          <a:ln/>
          <a:effectLst>
            <a:outerShdw sx="100000" sy="100000" kx="0" ky="0" algn="bl" rotWithShape="0" blurRad="152400" dist="38100" dir="8100000">
              <a:srgbClr val="000000">
                <a:alpha val="4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502920" y="4526280"/>
            <a:ext cx="5577840" cy="64008"/>
          </a:xfrm>
          <a:prstGeom prst="rect">
            <a:avLst/>
          </a:prstGeom>
          <a:solidFill>
            <a:srgbClr val="17C7BA"/>
          </a:solidFill>
          <a:ln/>
        </p:spPr>
      </p:sp>
      <p:sp>
        <p:nvSpPr>
          <p:cNvPr id="17" name="Text 15"/>
          <p:cNvSpPr/>
          <p:nvPr/>
        </p:nvSpPr>
        <p:spPr>
          <a:xfrm>
            <a:off x="731520" y="4690872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5F5F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Idempotent checkout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731520" y="5056632"/>
            <a:ext cx="5120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3A3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Wallet-bound checkout key returns the same order on retry. Cart lines unique on wallet + URL + notes.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6263640" y="1325880"/>
            <a:ext cx="5394960" cy="1463040"/>
          </a:xfrm>
          <a:prstGeom prst="roundRect">
            <a:avLst>
              <a:gd name="adj" fmla="val 5000"/>
            </a:avLst>
          </a:prstGeom>
          <a:solidFill>
            <a:srgbClr val="1A1A1A"/>
          </a:solidFill>
          <a:ln/>
          <a:effectLst>
            <a:outerShdw sx="100000" sy="100000" kx="0" ky="0" algn="bl" rotWithShape="0" blurRad="152400" dist="38100" dir="8100000">
              <a:srgbClr val="000000">
                <a:alpha val="4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263640" y="1325880"/>
            <a:ext cx="5394960" cy="64008"/>
          </a:xfrm>
          <a:prstGeom prst="rect">
            <a:avLst/>
          </a:prstGeom>
          <a:solidFill>
            <a:srgbClr val="E8B86D"/>
          </a:solidFill>
          <a:ln/>
        </p:spPr>
      </p:sp>
      <p:sp>
        <p:nvSpPr>
          <p:cNvPr id="21" name="Text 19"/>
          <p:cNvSpPr/>
          <p:nvPr/>
        </p:nvSpPr>
        <p:spPr>
          <a:xfrm>
            <a:off x="6492240" y="1490472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8B86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is out of scope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6492240" y="1856232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3A3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Soroban contract in this MVP. No SEP-6 deposit. No automatic merchant purchase. No partial refund. No card vault.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6263640" y="2926080"/>
            <a:ext cx="5394960" cy="1463040"/>
          </a:xfrm>
          <a:prstGeom prst="roundRect">
            <a:avLst>
              <a:gd name="adj" fmla="val 5000"/>
            </a:avLst>
          </a:prstGeom>
          <a:solidFill>
            <a:srgbClr val="1A1A1A"/>
          </a:solidFill>
          <a:ln/>
          <a:effectLst>
            <a:outerShdw sx="100000" sy="100000" kx="0" ky="0" algn="bl" rotWithShape="0" blurRad="152400" dist="38100" dir="8100000">
              <a:srgbClr val="000000">
                <a:alpha val="4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6263640" y="2926080"/>
            <a:ext cx="5394960" cy="64008"/>
          </a:xfrm>
          <a:prstGeom prst="rect">
            <a:avLst/>
          </a:prstGeom>
          <a:solidFill>
            <a:srgbClr val="E8B86D"/>
          </a:solidFill>
          <a:ln/>
        </p:spPr>
      </p:sp>
      <p:sp>
        <p:nvSpPr>
          <p:cNvPr id="25" name="Text 23"/>
          <p:cNvSpPr/>
          <p:nvPr/>
        </p:nvSpPr>
        <p:spPr>
          <a:xfrm>
            <a:off x="6492240" y="3090672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8B86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Why that is a feature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6492240" y="3456432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3A3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broken escrow or a scraped store login would fail the demo. A signed USDC payment and a human desk will not.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6263640" y="4526280"/>
            <a:ext cx="5394960" cy="1463040"/>
          </a:xfrm>
          <a:prstGeom prst="roundRect">
            <a:avLst>
              <a:gd name="adj" fmla="val 5000"/>
            </a:avLst>
          </a:prstGeom>
          <a:solidFill>
            <a:srgbClr val="1A1A1A"/>
          </a:solidFill>
          <a:ln/>
          <a:effectLst>
            <a:outerShdw sx="100000" sy="100000" kx="0" ky="0" algn="bl" rotWithShape="0" blurRad="152400" dist="38100" dir="8100000">
              <a:srgbClr val="000000">
                <a:alpha val="40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6263640" y="4526280"/>
            <a:ext cx="5394960" cy="64008"/>
          </a:xfrm>
          <a:prstGeom prst="rect">
            <a:avLst/>
          </a:prstGeom>
          <a:solidFill>
            <a:srgbClr val="E8B86D"/>
          </a:solidFill>
          <a:ln/>
        </p:spPr>
      </p:sp>
      <p:sp>
        <p:nvSpPr>
          <p:cNvPr id="29" name="Text 27"/>
          <p:cNvSpPr/>
          <p:nvPr/>
        </p:nvSpPr>
        <p:spPr>
          <a:xfrm>
            <a:off x="6492240" y="4690872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8B86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Passkeys / smart wallets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6492240" y="5056632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3A3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Treated as a bonus, as the brief asks. Freighter is the supported signer today.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E0E0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11155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40" kern="0" dirty="0">
                <a:solidFill>
                  <a:srgbClr val="17C7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 ·  TRACTION &amp; CONTINUITY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493776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5F5F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Ship the desk, then put TRY on-ramp and escrow on-chain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0" y="6601968"/>
            <a:ext cx="12161520" cy="256032"/>
          </a:xfrm>
          <a:prstGeom prst="rect">
            <a:avLst/>
          </a:prstGeom>
          <a:solidFill>
            <a:srgbClr val="0E0E0E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6601968"/>
            <a:ext cx="7772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20" kern="0" dirty="0">
                <a:solidFill>
                  <a:srgbClr val="7373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SP3ND  ·  STELLAR PRO HACKATHON 2026  ·  ISTANBUL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0332720" y="6601968"/>
            <a:ext cx="1325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373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  /  14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502920" y="1325880"/>
            <a:ext cx="3611880" cy="3657600"/>
          </a:xfrm>
          <a:prstGeom prst="roundRect">
            <a:avLst>
              <a:gd name="adj" fmla="val 2025"/>
            </a:avLst>
          </a:prstGeom>
          <a:solidFill>
            <a:srgbClr val="1A1A1A"/>
          </a:solidFill>
          <a:ln/>
          <a:effectLst>
            <a:outerShdw sx="100000" sy="100000" kx="0" ky="0" algn="bl" rotWithShape="0" blurRad="152400" dist="38100" dir="8100000">
              <a:srgbClr val="000000">
                <a:alpha val="4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502920" y="1325880"/>
            <a:ext cx="3611880" cy="64008"/>
          </a:xfrm>
          <a:prstGeom prst="rect">
            <a:avLst/>
          </a:prstGeom>
          <a:solidFill>
            <a:srgbClr val="17C7BA"/>
          </a:solidFill>
          <a:ln/>
        </p:spPr>
      </p:sp>
      <p:sp>
        <p:nvSpPr>
          <p:cNvPr id="9" name="Text 7"/>
          <p:cNvSpPr/>
          <p:nvPr/>
        </p:nvSpPr>
        <p:spPr>
          <a:xfrm>
            <a:off x="704088" y="155448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60" kern="0" dirty="0">
                <a:solidFill>
                  <a:srgbClr val="17C7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NOW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704088" y="205740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5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Freighter login + USDC pay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704088" y="269748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5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3-store cart, TR address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704088" y="333756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5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Admin quote / buy / ship / refund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704088" y="397764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5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Chrome extension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4297680" y="1325880"/>
            <a:ext cx="3611880" cy="3657600"/>
          </a:xfrm>
          <a:prstGeom prst="roundRect">
            <a:avLst>
              <a:gd name="adj" fmla="val 2025"/>
            </a:avLst>
          </a:prstGeom>
          <a:solidFill>
            <a:srgbClr val="1A1A1A"/>
          </a:solidFill>
          <a:ln/>
          <a:effectLst>
            <a:outerShdw sx="100000" sy="100000" kx="0" ky="0" algn="bl" rotWithShape="0" blurRad="152400" dist="38100" dir="8100000">
              <a:srgbClr val="000000">
                <a:alpha val="4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297680" y="1325880"/>
            <a:ext cx="3611880" cy="64008"/>
          </a:xfrm>
          <a:prstGeom prst="rect">
            <a:avLst/>
          </a:prstGeom>
          <a:solidFill>
            <a:srgbClr val="20D4C7"/>
          </a:solidFill>
          <a:ln/>
        </p:spPr>
      </p:sp>
      <p:sp>
        <p:nvSpPr>
          <p:cNvPr id="16" name="Text 14"/>
          <p:cNvSpPr/>
          <p:nvPr/>
        </p:nvSpPr>
        <p:spPr>
          <a:xfrm>
            <a:off x="4498848" y="155448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60" kern="0" dirty="0">
                <a:solidFill>
                  <a:srgbClr val="20D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 90 DAYS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498848" y="205740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5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 Mock Anchor (SEP-6 / 10 / 38)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4498848" y="269748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5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TRY deposit → USDC in-app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4498848" y="333756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5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Soroban escrow: release on fulfill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4498848" y="397764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5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small mainnet orders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8092440" y="1325880"/>
            <a:ext cx="3611880" cy="3657600"/>
          </a:xfrm>
          <a:prstGeom prst="roundRect">
            <a:avLst>
              <a:gd name="adj" fmla="val 2025"/>
            </a:avLst>
          </a:prstGeom>
          <a:solidFill>
            <a:srgbClr val="1A1A1A"/>
          </a:solidFill>
          <a:ln/>
          <a:effectLst>
            <a:outerShdw sx="100000" sy="100000" kx="0" ky="0" algn="bl" rotWithShape="0" blurRad="152400" dist="38100" dir="8100000">
              <a:srgbClr val="000000">
                <a:alpha val="4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8092440" y="1325880"/>
            <a:ext cx="3611880" cy="64008"/>
          </a:xfrm>
          <a:prstGeom prst="rect">
            <a:avLst/>
          </a:prstGeom>
          <a:solidFill>
            <a:srgbClr val="E8B86D"/>
          </a:solidFill>
          <a:ln/>
        </p:spPr>
      </p:sp>
      <p:sp>
        <p:nvSpPr>
          <p:cNvPr id="23" name="Text 21"/>
          <p:cNvSpPr/>
          <p:nvPr/>
        </p:nvSpPr>
        <p:spPr>
          <a:xfrm>
            <a:off x="8293608" y="155448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60" kern="0" dirty="0">
                <a:solidFill>
                  <a:srgbClr val="E8B86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SCF / INSTAAWARDS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8293608" y="205740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5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Licensed TRY anchor partner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8293608" y="269748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5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More TR merchants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8293608" y="333756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5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Diaspora GTM in EU/UK/DE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8293608" y="397764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5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Passkey smart wallets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502920" y="5166360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A3A3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Intended next step: Stellar Community Fund, with InstaAwards as the fast path if the live desk proves a handful of real parcels.</a:t>
            </a:r>
            <a:endParaRPr lang="en-US" sz="1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E0E0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11155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40" kern="0" dirty="0">
                <a:solidFill>
                  <a:srgbClr val="17C7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DEMO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493776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5F5F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acceptance script — same order as DEMO.md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0" y="6601968"/>
            <a:ext cx="12161520" cy="256032"/>
          </a:xfrm>
          <a:prstGeom prst="rect">
            <a:avLst/>
          </a:prstGeom>
          <a:solidFill>
            <a:srgbClr val="0E0E0E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6601968"/>
            <a:ext cx="7772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20" kern="0" dirty="0">
                <a:solidFill>
                  <a:srgbClr val="7373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SP3ND  ·  STELLAR PRO HACKATHON 2026  ·  ISTANBUL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0332720" y="6601968"/>
            <a:ext cx="1325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373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  /  14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502920" y="1371600"/>
            <a:ext cx="384048" cy="384048"/>
          </a:xfrm>
          <a:prstGeom prst="ellipse">
            <a:avLst/>
          </a:prstGeom>
          <a:solidFill>
            <a:srgbClr val="17C7BA"/>
          </a:solidFill>
          <a:ln/>
        </p:spPr>
      </p:sp>
      <p:sp>
        <p:nvSpPr>
          <p:cNvPr id="8" name="Text 6"/>
          <p:cNvSpPr/>
          <p:nvPr/>
        </p:nvSpPr>
        <p:spPr>
          <a:xfrm>
            <a:off x="502920" y="13716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E0E0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51560" y="1261872"/>
            <a:ext cx="19659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5F5F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Sign in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3108960" y="1261872"/>
            <a:ext cx="85039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4D4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Chrome + Freighter. Sign the 5-minute message. Reject it once so judges see no session.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02920" y="2066544"/>
            <a:ext cx="384048" cy="384048"/>
          </a:xfrm>
          <a:prstGeom prst="ellipse">
            <a:avLst/>
          </a:prstGeom>
          <a:solidFill>
            <a:srgbClr val="17C7BA"/>
          </a:solidFill>
          <a:ln/>
        </p:spPr>
      </p:sp>
      <p:sp>
        <p:nvSpPr>
          <p:cNvPr id="12" name="Text 10"/>
          <p:cNvSpPr/>
          <p:nvPr/>
        </p:nvSpPr>
        <p:spPr>
          <a:xfrm>
            <a:off x="502920" y="206654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E0E0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051560" y="1956816"/>
            <a:ext cx="19659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5F5F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Cart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3108960" y="1956816"/>
            <a:ext cx="85039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4D4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Amazon TR, Hepsiburada, Trendyol — one each. Qty + color/size note. Repeat URL bumps qty. Reload. Extension fetch + confirm.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502920" y="2761488"/>
            <a:ext cx="384048" cy="384048"/>
          </a:xfrm>
          <a:prstGeom prst="ellipse">
            <a:avLst/>
          </a:prstGeom>
          <a:solidFill>
            <a:srgbClr val="17C7BA"/>
          </a:solidFill>
          <a:ln/>
        </p:spPr>
      </p:sp>
      <p:sp>
        <p:nvSpPr>
          <p:cNvPr id="16" name="Text 14"/>
          <p:cNvSpPr/>
          <p:nvPr/>
        </p:nvSpPr>
        <p:spPr>
          <a:xfrm>
            <a:off x="502920" y="27614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E0E0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051560" y="2651760"/>
            <a:ext cx="19659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5F5F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Address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3108960" y="2651760"/>
            <a:ext cx="85039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4D4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Fill a Turkish address. One quote request. Order shows three merchants + the address.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502920" y="3456432"/>
            <a:ext cx="384048" cy="384048"/>
          </a:xfrm>
          <a:prstGeom prst="ellipse">
            <a:avLst/>
          </a:prstGeom>
          <a:solidFill>
            <a:srgbClr val="17C7BA"/>
          </a:solidFill>
          <a:ln/>
        </p:spPr>
      </p:sp>
      <p:sp>
        <p:nvSpPr>
          <p:cNvPr id="20" name="Text 18"/>
          <p:cNvSpPr/>
          <p:nvPr/>
        </p:nvSpPr>
        <p:spPr>
          <a:xfrm>
            <a:off x="502920" y="345643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E0E0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1051560" y="3346704"/>
            <a:ext cx="19659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5F5F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Quote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3108960" y="3346704"/>
            <a:ext cx="85039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4D4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Admin: name, unit TRY, USDTRY, per-store shipping. Fee = 1 USDC/unit. User sees breakdown + 15:00.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502920" y="4151376"/>
            <a:ext cx="384048" cy="384048"/>
          </a:xfrm>
          <a:prstGeom prst="ellipse">
            <a:avLst/>
          </a:prstGeom>
          <a:solidFill>
            <a:srgbClr val="17C7BA"/>
          </a:solidFill>
          <a:ln/>
        </p:spPr>
      </p:sp>
      <p:sp>
        <p:nvSpPr>
          <p:cNvPr id="24" name="Text 22"/>
          <p:cNvSpPr/>
          <p:nvPr/>
        </p:nvSpPr>
        <p:spPr>
          <a:xfrm>
            <a:off x="502920" y="415137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E0E0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1051560" y="4041648"/>
            <a:ext cx="19659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5F5F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Pay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3108960" y="4041648"/>
            <a:ext cx="85039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4D4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Freighter: wallet, network, receiver, amount. Sign a small real payment. Explorer link. Same hash if delayed.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502920" y="4846320"/>
            <a:ext cx="384048" cy="384048"/>
          </a:xfrm>
          <a:prstGeom prst="ellipse">
            <a:avLst/>
          </a:prstGeom>
          <a:solidFill>
            <a:srgbClr val="17C7BA"/>
          </a:solidFill>
          <a:ln/>
        </p:spPr>
      </p:sp>
      <p:sp>
        <p:nvSpPr>
          <p:cNvPr id="28" name="Text 26"/>
          <p:cNvSpPr/>
          <p:nvPr/>
        </p:nvSpPr>
        <p:spPr>
          <a:xfrm>
            <a:off x="502920" y="48463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E0E0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6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1051560" y="4736592"/>
            <a:ext cx="19659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5F5F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Fulfill</a:t>
            </a: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3108960" y="4736592"/>
            <a:ext cx="85039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4D4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Operator buys on store accounts. Attach real refs. Partial then purchased, then partial/full shipped.</a:t>
            </a:r>
            <a:endParaRPr lang="en-US" sz="1400" dirty="0"/>
          </a:p>
        </p:txBody>
      </p:sp>
      <p:sp>
        <p:nvSpPr>
          <p:cNvPr id="31" name="Shape 29"/>
          <p:cNvSpPr/>
          <p:nvPr/>
        </p:nvSpPr>
        <p:spPr>
          <a:xfrm>
            <a:off x="502920" y="5541264"/>
            <a:ext cx="384048" cy="384048"/>
          </a:xfrm>
          <a:prstGeom prst="ellipse">
            <a:avLst/>
          </a:prstGeom>
          <a:solidFill>
            <a:srgbClr val="17C7BA"/>
          </a:solidFill>
          <a:ln/>
        </p:spPr>
      </p:sp>
      <p:sp>
        <p:nvSpPr>
          <p:cNvPr id="32" name="Text 30"/>
          <p:cNvSpPr/>
          <p:nvPr/>
        </p:nvSpPr>
        <p:spPr>
          <a:xfrm>
            <a:off x="502920" y="554126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E0E0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7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1051560" y="5431536"/>
            <a:ext cx="19659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5F5F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Refund</a:t>
            </a:r>
            <a:endParaRPr lang="en-US" sz="1500" dirty="0"/>
          </a:p>
        </p:txBody>
      </p:sp>
      <p:sp>
        <p:nvSpPr>
          <p:cNvPr id="34" name="Text 32"/>
          <p:cNvSpPr/>
          <p:nvPr/>
        </p:nvSpPr>
        <p:spPr>
          <a:xfrm>
            <a:off x="3108960" y="5431536"/>
            <a:ext cx="85039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4D4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If needed: full refund only. Send R+memo from the desk wallet. Panel verifies the hash.</a:t>
            </a:r>
            <a:endParaRPr lang="en-US" sz="14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E0E0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11155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40" kern="0" dirty="0">
                <a:solidFill>
                  <a:srgbClr val="17C7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 ·  PRESENTATION &amp; DOCS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493776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5F5F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Everything a judge needs to run, click, and score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0" y="6601968"/>
            <a:ext cx="12161520" cy="256032"/>
          </a:xfrm>
          <a:prstGeom prst="rect">
            <a:avLst/>
          </a:prstGeom>
          <a:solidFill>
            <a:srgbClr val="0E0E0E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6601968"/>
            <a:ext cx="7772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20" kern="0" dirty="0">
                <a:solidFill>
                  <a:srgbClr val="7373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SP3ND  ·  STELLAR PRO HACKATHON 2026  ·  ISTANBUL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0332720" y="6601968"/>
            <a:ext cx="1325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373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  /  14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02920" y="128016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C7B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GitHub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2788920" y="1280160"/>
            <a:ext cx="8869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5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github.com/HDemir23/SP3ND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502920" y="192024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C7B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Public site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2788920" y="1920240"/>
            <a:ext cx="8869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5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www.sp3nd.shop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502920" y="256032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C7B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Local app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2788920" y="2560320"/>
            <a:ext cx="8869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5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localhost:3000 after npm ci &amp;&amp; npm run setup &amp;&amp; npm run dev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502920" y="320040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C7B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Admin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2788920" y="3200400"/>
            <a:ext cx="8869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5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/login?role=admin  ·  password from .env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502920" y="384048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C7B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Extension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2788920" y="3840480"/>
            <a:ext cx="8869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5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/extension  ·  or chrome://extensions load unpacked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502920" y="448056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C7B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Verify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2788920" y="4480560"/>
            <a:ext cx="8869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5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npm test  ·  npm run typecheck  ·  npm run test:api  ·  npm run test:testnet</a:t>
            </a:r>
            <a:endParaRPr lang="en-US" sz="15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E0E0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rose/Desktop/Stellar-Hack_Ist/pitch/assets/logo-ic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502920"/>
            <a:ext cx="384048" cy="365760"/>
          </a:xfrm>
          <a:prstGeom prst="rect">
            <a:avLst/>
          </a:prstGeom>
        </p:spPr>
      </p:pic>
      <p:pic>
        <p:nvPicPr>
          <p:cNvPr id="3" name="Image 1" descr="/Users/rose/Desktop/Stellar-Hack_Ist/pitch/assets/logo-wordmar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0120" y="530352"/>
            <a:ext cx="1965960" cy="306324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502920" y="1645920"/>
            <a:ext cx="11155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5F5F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Spend freely.</a:t>
            </a:r>
            <a:endParaRPr lang="en-US" sz="4400" dirty="0"/>
          </a:p>
        </p:txBody>
      </p:sp>
      <p:sp>
        <p:nvSpPr>
          <p:cNvPr id="5" name="Text 1"/>
          <p:cNvSpPr/>
          <p:nvPr/>
        </p:nvSpPr>
        <p:spPr>
          <a:xfrm>
            <a:off x="502920" y="2331720"/>
            <a:ext cx="11155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7C7B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Settle simply.</a:t>
            </a:r>
            <a:endParaRPr lang="en-US" sz="4400" dirty="0"/>
          </a:p>
        </p:txBody>
      </p:sp>
      <p:sp>
        <p:nvSpPr>
          <p:cNvPr id="6" name="Text 2"/>
          <p:cNvSpPr/>
          <p:nvPr/>
        </p:nvSpPr>
        <p:spPr>
          <a:xfrm>
            <a:off x="502920" y="320040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A3A3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Stellar already moves the dollar. SP3ND spends it at a Turkish door.</a:t>
            </a:r>
            <a:endParaRPr lang="en-US" sz="1800" dirty="0"/>
          </a:p>
        </p:txBody>
      </p:sp>
      <p:sp>
        <p:nvSpPr>
          <p:cNvPr id="7" name="Shape 3"/>
          <p:cNvSpPr/>
          <p:nvPr/>
        </p:nvSpPr>
        <p:spPr>
          <a:xfrm>
            <a:off x="502920" y="4023360"/>
            <a:ext cx="3611880" cy="1417320"/>
          </a:xfrm>
          <a:prstGeom prst="roundRect">
            <a:avLst>
              <a:gd name="adj" fmla="val 5161"/>
            </a:avLst>
          </a:prstGeom>
          <a:solidFill>
            <a:srgbClr val="1A1A1A"/>
          </a:solidFill>
          <a:ln/>
          <a:effectLst>
            <a:outerShdw sx="100000" sy="100000" kx="0" ky="0" algn="bl" rotWithShape="0" blurRad="152400" dist="38100" dir="8100000">
              <a:srgbClr val="000000">
                <a:alpha val="40000"/>
              </a:srgbClr>
            </a:outerShdw>
          </a:effectLst>
        </p:spPr>
      </p:sp>
      <p:sp>
        <p:nvSpPr>
          <p:cNvPr id="8" name="Shape 4"/>
          <p:cNvSpPr/>
          <p:nvPr/>
        </p:nvSpPr>
        <p:spPr>
          <a:xfrm>
            <a:off x="502920" y="4023360"/>
            <a:ext cx="3611880" cy="64008"/>
          </a:xfrm>
          <a:prstGeom prst="rect">
            <a:avLst/>
          </a:prstGeom>
          <a:solidFill>
            <a:srgbClr val="17C7BA"/>
          </a:solidFill>
          <a:ln/>
        </p:spPr>
      </p:sp>
      <p:sp>
        <p:nvSpPr>
          <p:cNvPr id="9" name="Text 5"/>
          <p:cNvSpPr/>
          <p:nvPr/>
        </p:nvSpPr>
        <p:spPr>
          <a:xfrm>
            <a:off x="704088" y="418795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40" kern="0" dirty="0">
                <a:solidFill>
                  <a:srgbClr val="17C7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</a:t>
            </a:r>
            <a:endParaRPr lang="en-US" sz="1200" dirty="0"/>
          </a:p>
        </p:txBody>
      </p:sp>
      <p:sp>
        <p:nvSpPr>
          <p:cNvPr id="10" name="Text 6"/>
          <p:cNvSpPr/>
          <p:nvPr/>
        </p:nvSpPr>
        <p:spPr>
          <a:xfrm>
            <a:off x="704088" y="4526280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5F5F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github.com/HDemir23/SP3ND</a:t>
            </a:r>
            <a:endParaRPr lang="en-US" sz="1600" dirty="0"/>
          </a:p>
        </p:txBody>
      </p:sp>
      <p:sp>
        <p:nvSpPr>
          <p:cNvPr id="11" name="Shape 7"/>
          <p:cNvSpPr/>
          <p:nvPr/>
        </p:nvSpPr>
        <p:spPr>
          <a:xfrm>
            <a:off x="4297680" y="4023360"/>
            <a:ext cx="3611880" cy="1417320"/>
          </a:xfrm>
          <a:prstGeom prst="roundRect">
            <a:avLst>
              <a:gd name="adj" fmla="val 5161"/>
            </a:avLst>
          </a:prstGeom>
          <a:solidFill>
            <a:srgbClr val="1A1A1A"/>
          </a:solidFill>
          <a:ln/>
          <a:effectLst>
            <a:outerShdw sx="100000" sy="100000" kx="0" ky="0" algn="bl" rotWithShape="0" blurRad="152400" dist="38100" dir="8100000">
              <a:srgbClr val="000000">
                <a:alpha val="40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4297680" y="4023360"/>
            <a:ext cx="3611880" cy="64008"/>
          </a:xfrm>
          <a:prstGeom prst="rect">
            <a:avLst/>
          </a:prstGeom>
          <a:solidFill>
            <a:srgbClr val="17C7BA"/>
          </a:solidFill>
          <a:ln/>
        </p:spPr>
      </p:sp>
      <p:sp>
        <p:nvSpPr>
          <p:cNvPr id="13" name="Text 9"/>
          <p:cNvSpPr/>
          <p:nvPr/>
        </p:nvSpPr>
        <p:spPr>
          <a:xfrm>
            <a:off x="4498848" y="418795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40" kern="0" dirty="0">
                <a:solidFill>
                  <a:srgbClr val="17C7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Site</a:t>
            </a:r>
            <a:endParaRPr lang="en-US" sz="1200" dirty="0"/>
          </a:p>
        </p:txBody>
      </p:sp>
      <p:sp>
        <p:nvSpPr>
          <p:cNvPr id="14" name="Text 10"/>
          <p:cNvSpPr/>
          <p:nvPr/>
        </p:nvSpPr>
        <p:spPr>
          <a:xfrm>
            <a:off x="4498848" y="4526280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5F5F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sp3nd.shop</a:t>
            </a:r>
            <a:endParaRPr lang="en-US" sz="1600" dirty="0"/>
          </a:p>
        </p:txBody>
      </p:sp>
      <p:sp>
        <p:nvSpPr>
          <p:cNvPr id="15" name="Shape 11"/>
          <p:cNvSpPr/>
          <p:nvPr/>
        </p:nvSpPr>
        <p:spPr>
          <a:xfrm>
            <a:off x="8092440" y="4023360"/>
            <a:ext cx="3611880" cy="1417320"/>
          </a:xfrm>
          <a:prstGeom prst="roundRect">
            <a:avLst>
              <a:gd name="adj" fmla="val 5161"/>
            </a:avLst>
          </a:prstGeom>
          <a:solidFill>
            <a:srgbClr val="1A1A1A"/>
          </a:solidFill>
          <a:ln/>
          <a:effectLst>
            <a:outerShdw sx="100000" sy="100000" kx="0" ky="0" algn="bl" rotWithShape="0" blurRad="152400" dist="38100" dir="8100000">
              <a:srgbClr val="000000">
                <a:alpha val="40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8092440" y="4023360"/>
            <a:ext cx="3611880" cy="64008"/>
          </a:xfrm>
          <a:prstGeom prst="rect">
            <a:avLst/>
          </a:prstGeom>
          <a:solidFill>
            <a:srgbClr val="17C7BA"/>
          </a:solidFill>
          <a:ln/>
        </p:spPr>
      </p:sp>
      <p:sp>
        <p:nvSpPr>
          <p:cNvPr id="17" name="Text 13"/>
          <p:cNvSpPr/>
          <p:nvPr/>
        </p:nvSpPr>
        <p:spPr>
          <a:xfrm>
            <a:off x="8293608" y="418795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40" kern="0" dirty="0">
                <a:solidFill>
                  <a:srgbClr val="17C7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</a:t>
            </a:r>
            <a:endParaRPr lang="en-US" sz="1200" dirty="0"/>
          </a:p>
        </p:txBody>
      </p:sp>
      <p:sp>
        <p:nvSpPr>
          <p:cNvPr id="18" name="Text 14"/>
          <p:cNvSpPr/>
          <p:nvPr/>
        </p:nvSpPr>
        <p:spPr>
          <a:xfrm>
            <a:off x="8293608" y="4526280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5F5F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SCF  ·  Anchor  ·  escrow</a:t>
            </a:r>
            <a:endParaRPr lang="en-US" sz="1600" dirty="0"/>
          </a:p>
        </p:txBody>
      </p:sp>
      <p:sp>
        <p:nvSpPr>
          <p:cNvPr id="19" name="Text 15"/>
          <p:cNvSpPr/>
          <p:nvPr/>
        </p:nvSpPr>
        <p:spPr>
          <a:xfrm>
            <a:off x="502920" y="5760720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7373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Thank you  ·  questions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SP3ND — Spend freely. Settle simply.</dc:title>
  <dc:subject>Rise In × Stellar Pro Hackathon 2026 · Istanbul</dc:subject>
  <dc:creator>SP3ND</dc:creator>
  <cp:lastModifiedBy>SP3ND</cp:lastModifiedBy>
  <cp:revision>1</cp:revision>
  <dcterms:created xsi:type="dcterms:W3CDTF">2026-09-20T08:00:56Z</dcterms:created>
  <dcterms:modified xsi:type="dcterms:W3CDTF">2026-09-20T08:00:56Z</dcterms:modified>
</cp:coreProperties>
</file>